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3bce241a634309" /><Relationship Type="http://schemas.openxmlformats.org/officeDocument/2006/relationships/extended-properties" Target="/docProps/app.xml" Id="Rdce51a0d4eab47b4" /><Relationship Type="http://schemas.openxmlformats.org/officeDocument/2006/relationships/officeDocument" Target="/ppt/presentation.xml" Id="Re2666fb21c1f47aa" /></Relationships>
</file>

<file path=ppt/presentation.xml><?xml version="1.0" encoding="utf-8"?>
<p:presentation xmlns:p="http://schemas.openxmlformats.org/presentationml/2006/main">
  <p:sldMasterIdLst>
    <p:sldMasterId xmlns:r="http://schemas.openxmlformats.org/officeDocument/2006/relationships" id="2147483648" r:id="R3f6383d81b6b4c45"/>
  </p:sldMasterIdLst>
  <p:notesMasterIdLst>
    <p:notesMasterId xmlns:r="http://schemas.openxmlformats.org/officeDocument/2006/relationships" r:id="R231625e8245640aa"/>
  </p:notesMasterIdLst>
  <p:sldIdLst>
    <p:sldId xmlns:r="http://schemas.openxmlformats.org/officeDocument/2006/relationships" id="256" r:id="R5cd3b41447e5493a"/>
    <p:sldId xmlns:r="http://schemas.openxmlformats.org/officeDocument/2006/relationships" id="257" r:id="Rf6a470947be04a55"/>
    <p:sldId xmlns:r="http://schemas.openxmlformats.org/officeDocument/2006/relationships" id="258" r:id="R4428d7b7d5194318"/>
    <p:sldId xmlns:r="http://schemas.openxmlformats.org/officeDocument/2006/relationships" id="259" r:id="Rf6a47909182f484f"/>
    <p:sldId xmlns:r="http://schemas.openxmlformats.org/officeDocument/2006/relationships" id="260" r:id="R8c5f5f555f134a87"/>
    <p:sldId xmlns:r="http://schemas.openxmlformats.org/officeDocument/2006/relationships" id="261" r:id="Rb3ee1228a1194a6a"/>
    <p:sldId xmlns:r="http://schemas.openxmlformats.org/officeDocument/2006/relationships" id="262" r:id="R1bb43537261b4813"/>
    <p:sldId xmlns:r="http://schemas.openxmlformats.org/officeDocument/2006/relationships" id="263" r:id="R2b208fd2bb3b44c2"/>
    <p:sldId xmlns:r="http://schemas.openxmlformats.org/officeDocument/2006/relationships" id="264" r:id="R9fc6b1bb36264136"/>
    <p:sldId xmlns:r="http://schemas.openxmlformats.org/officeDocument/2006/relationships" id="265" r:id="Rd61b77662b1349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29454444fa4507" /><Relationship Type="http://schemas.openxmlformats.org/officeDocument/2006/relationships/slideMaster" Target="/ppt/slideMasters/slideMaster1.xml" Id="R3f6383d81b6b4c45" /><Relationship Type="http://schemas.openxmlformats.org/officeDocument/2006/relationships/notesMaster" Target="/ppt/notesMasters/notesMaster1.xml" Id="R231625e8245640aa" /><Relationship Type="http://schemas.openxmlformats.org/officeDocument/2006/relationships/presProps" Target="/ppt/presProps.xml" Id="Rd391d52ed2bb42fe" /><Relationship Type="http://schemas.openxmlformats.org/officeDocument/2006/relationships/tableStyles" Target="/ppt/tableStyles.xml" Id="R2edaaad0da53491c" /><Relationship Type="http://schemas.openxmlformats.org/officeDocument/2006/relationships/slide" Target="/ppt/slides/slide1.xml" Id="R5cd3b41447e5493a" /><Relationship Type="http://schemas.openxmlformats.org/officeDocument/2006/relationships/slide" Target="/ppt/slides/slide2.xml" Id="Rf6a470947be04a55" /><Relationship Type="http://schemas.openxmlformats.org/officeDocument/2006/relationships/slide" Target="/ppt/slides/slide3.xml" Id="R4428d7b7d5194318" /><Relationship Type="http://schemas.openxmlformats.org/officeDocument/2006/relationships/slide" Target="/ppt/slides/slide4.xml" Id="Rf6a47909182f484f" /><Relationship Type="http://schemas.openxmlformats.org/officeDocument/2006/relationships/slide" Target="/ppt/slides/slide5.xml" Id="R8c5f5f555f134a87" /><Relationship Type="http://schemas.openxmlformats.org/officeDocument/2006/relationships/slide" Target="/ppt/slides/slide6.xml" Id="Rb3ee1228a1194a6a" /><Relationship Type="http://schemas.openxmlformats.org/officeDocument/2006/relationships/slide" Target="/ppt/slides/slide7.xml" Id="R1bb43537261b4813" /><Relationship Type="http://schemas.openxmlformats.org/officeDocument/2006/relationships/slide" Target="/ppt/slides/slide8.xml" Id="R2b208fd2bb3b44c2" /><Relationship Type="http://schemas.openxmlformats.org/officeDocument/2006/relationships/slide" Target="/ppt/slides/slide9.xml" Id="R9fc6b1bb36264136" /><Relationship Type="http://schemas.openxmlformats.org/officeDocument/2006/relationships/slide" Target="/ppt/slides/slide10.xml" Id="Rd61b77662b1349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03d481ec784f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c248cf40884729" /><Relationship Type="http://schemas.openxmlformats.org/officeDocument/2006/relationships/notesMaster" Target="/ppt/notesMasters/notesMaster1.xml" Id="Rc52dfa392bc64d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dd0941bd4d44e6" /><Relationship Type="http://schemas.openxmlformats.org/officeDocument/2006/relationships/notesMaster" Target="/ppt/notesMasters/notesMaster1.xml" Id="Rd08aac74a4354e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fd3c5c38ef4a06" /><Relationship Type="http://schemas.openxmlformats.org/officeDocument/2006/relationships/notesMaster" Target="/ppt/notesMasters/notesMaster1.xml" Id="R483e91ba3dae41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e54ca4def946e2" /><Relationship Type="http://schemas.openxmlformats.org/officeDocument/2006/relationships/notesMaster" Target="/ppt/notesMasters/notesMaster1.xml" Id="Rc684cb3b919e4e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c6c528445a4ae6" /><Relationship Type="http://schemas.openxmlformats.org/officeDocument/2006/relationships/notesMaster" Target="/ppt/notesMasters/notesMaster1.xml" Id="R78c85fd5685644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9c41bf8f5b439a" /><Relationship Type="http://schemas.openxmlformats.org/officeDocument/2006/relationships/notesMaster" Target="/ppt/notesMasters/notesMaster1.xml" Id="Ra89f495a8aa440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cc41c2c265451e" /><Relationship Type="http://schemas.openxmlformats.org/officeDocument/2006/relationships/notesMaster" Target="/ppt/notesMasters/notesMaster1.xml" Id="R68119c79729243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1ee242c4af4a3b" /><Relationship Type="http://schemas.openxmlformats.org/officeDocument/2006/relationships/notesMaster" Target="/ppt/notesMasters/notesMaster1.xml" Id="R0499c1828d264b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aa9ebb788a4bba" /><Relationship Type="http://schemas.openxmlformats.org/officeDocument/2006/relationships/notesMaster" Target="/ppt/notesMasters/notesMaster1.xml" Id="R77dff7da1e4b46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9a8c07935c46f6" /><Relationship Type="http://schemas.openxmlformats.org/officeDocument/2006/relationships/notesMaster" Target="/ppt/notesMasters/notesMaster1.xml" Id="R628a88cebee34b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covers the implementation in Chapter 5 only. Basira combines operational data management with descriptive analytics, local forecasts and external language-model support. Introduce the implemented prototype and its purpose. Presenter and supervisor details come from the report cover.</a:t>
            </a:r>
          </a:p>
          <a:p xmlns:a="http://schemas.openxmlformats.org/drawingml/2006/main">
            <a:r>
              <a:t/>
            </a:r>
          </a:p>
          <a:p xmlns:a="http://schemas.openxmlformats.org/drawingml/2006/main">
            <a:r>
              <a:t>Source: C:\Users\khale\OneDrive\المستندات\ASU\Modules\Graduation Project 2\Basira_Graduation_Report_Chapters_1_to_5.pdf</a:t>
            </a:r>
          </a:p>
          <a:p xmlns:a="http://schemas.openxmlformats.org/drawingml/2006/main">
            <a:r>
              <a:t>Chapter 5, 5.1 and opening of 5.2, pp. 38–39.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communicates with the Next.js server through HTTP(S). Server services apply domain rules and use the generated Prisma client with the PostgreSQL driver. Only the server contacts the database and NVIDIA. NVIDIA hosts inference, so the application does not need a local model-serving GPU. Hardware values describe the observed development machine, not benchmarked minimum requirements.</a:t>
            </a:r>
          </a:p>
          <a:p xmlns:a="http://schemas.openxmlformats.org/drawingml/2006/main">
            <a:r>
              <a:t/>
            </a:r>
          </a:p>
          <a:p xmlns:a="http://schemas.openxmlformats.org/drawingml/2006/main">
            <a:r>
              <a:t>Source: C:\Users\khale\OneDrive\المستندات\ASU\Modules\Graduation Project 2\Basira_Graduation_Report_Chapters_1_to_5.pdf</a:t>
            </a:r>
          </a:p>
          <a:p xmlns:a="http://schemas.openxmlformats.org/drawingml/2006/main">
            <a:r>
              <a:t>Chapter 5, 5.1.1–5.2.2, pp. 38–41.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login screenshot is the original project interface shown in Figure 5.2. Passwords use salted scrypt hashes. Server checks reload current account status. Profile isolation applies to every business operation, including administrator requests. Currency/timezone locks preserve the meaning of historical values and are not cleared by deleting records. Google sign-in depends on configured OAuth credentials.</a:t>
            </a:r>
          </a:p>
          <a:p xmlns:a="http://schemas.openxmlformats.org/drawingml/2006/main">
            <a:r>
              <a:t/>
            </a:r>
          </a:p>
          <a:p xmlns:a="http://schemas.openxmlformats.org/drawingml/2006/main">
            <a:r>
              <a:t>Source: C:\Users\khale\OneDrive\المستندات\ASU\Modules\Graduation Project 2\Basira_Graduation_Report_Chapters_1_to_5.pdf</a:t>
            </a:r>
          </a:p>
          <a:p xmlns:a="http://schemas.openxmlformats.org/drawingml/2006/main">
            <a:r>
              <a:t>Chapter 5, 5.2.4–5.2.5 and 5.2.16, pp. 43–44 and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is the upper section of the import preview in Figure 5.5, using synthetic data. Sales import names must match a unique active catalogue item. Expense categories must already exist. Daily visit totals include repeats and cannot be duplicated silently. Import confirmation revalidates current data and writes the accepted subset with history in one transaction. The original file is not retained.</a:t>
            </a:r>
          </a:p>
          <a:p xmlns:a="http://schemas.openxmlformats.org/drawingml/2006/main">
            <a:r>
              <a:t/>
            </a:r>
          </a:p>
          <a:p xmlns:a="http://schemas.openxmlformats.org/drawingml/2006/main">
            <a:r>
              <a:t>Source: C:\Users\khale\OneDrive\المستندات\ASU\Modules\Graduation Project 2\Basira_Graduation_Report_Chapters_1_to_5.pdf</a:t>
            </a:r>
          </a:p>
          <a:p xmlns:a="http://schemas.openxmlformats.org/drawingml/2006/main">
            <a:r>
              <a:t>Chapter 5, 5.2.6–5.2.9, pp. 44–47.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preserves the top four KPI cards of Figure 5.6 and uses synthetic demonstration records. Profit subtracts known historical cost of goods sold (COGS) and Operating expenses. Inventory purchases must not be deducted again, and Other spending appears separately. Unknown costs can overstate estimated profit. The full dashboard shows cost-data coverage, equal-period comparisons, customer coverage and trend charts. Visits represent visits, not unique customers.</a:t>
            </a:r>
          </a:p>
          <a:p xmlns:a="http://schemas.openxmlformats.org/drawingml/2006/main">
            <a:r>
              <a:t/>
            </a:r>
          </a:p>
          <a:p xmlns:a="http://schemas.openxmlformats.org/drawingml/2006/main">
            <a:r>
              <a:t>Source: C:\Users\khale\OneDrive\المستندات\ASU\Modules\Graduation Project 2\Basira_Graduation_Report_Chapters_1_to_5.pdf</a:t>
            </a:r>
          </a:p>
          <a:p xmlns:a="http://schemas.openxmlformats.org/drawingml/2006/main">
            <a:r>
              <a:t>Chapter 5, 5.2.10, pp. 48–49.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Forecasting runs locally and does not call an AI language model. Holt smoothing tracks level and trend. Parameters use training data only, with chronological holdouts of 7, 30 or 90 observations. Basira reports MAE and nonzero-only MAPE, with a naive last-value baseline. MAPE is an error measure, not an accuracy percentage. Training excludes today. Monthly outputs cover three full future calendar months. Saved runs retain their original history and parameters. These estimates do not include seasonality or prediction intervals.</a:t>
            </a:r>
          </a:p>
          <a:p xmlns:a="http://schemas.openxmlformats.org/drawingml/2006/main">
            <a:r>
              <a:t/>
            </a:r>
          </a:p>
          <a:p xmlns:a="http://schemas.openxmlformats.org/drawingml/2006/main">
            <a:r>
              <a:t>Source: C:\Users\khale\OneDrive\المستندات\ASU\Modules\Graduation Project 2\Basira_Graduation_Report_Chapters_1_to_5.pdf</a:t>
            </a:r>
          </a:p>
          <a:p xmlns:a="http://schemas.openxmlformats.org/drawingml/2006/main">
            <a:r>
              <a:t>Chapter 5, 5.2.11, pp. 50–51, Table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report names Gemma as the original shared model. The user subsequently approved switching business chat to NVIDIA Nemotron 3.5 Lightning after Gemma timeouts. The current application records that change in docs/ASSISTANT_MODEL_SWITCH.md and src/lib/ai/models.ts. Feedback and optional report summaries still use Gemma. This slide reflects the approved current implementation. The assistant receives bounded aggregates and up to three recent completed exchanges, not raw transactions or account secrets. Feedback analysis sends individual comments only after an explicit action. Strict JSON validation controls response structure, not factual truth.</a:t>
            </a:r>
          </a:p>
          <a:p xmlns:a="http://schemas.openxmlformats.org/drawingml/2006/main">
            <a:r>
              <a:t/>
            </a:r>
          </a:p>
          <a:p xmlns:a="http://schemas.openxmlformats.org/drawingml/2006/main">
            <a:r>
              <a:t>Source: C:\Users\khale\OneDrive\المستندات\ASU\Modules\Graduation Project 2\Basira_Graduation_Report_Chapters_1_to_5.pdf</a:t>
            </a:r>
          </a:p>
          <a:p xmlns:a="http://schemas.openxmlformats.org/drawingml/2006/main">
            <a:r>
              <a:t>Chapter 5, 5.2.12–5.2.13, pp. 52–53, with the user-approved assistant model update.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rule calculations generate in-app alerts and preserve their trigger evidence. Insufficient data is a distinct state. Marking an alert read or dismissed does not resolve the business condition. Report figures remain immutable after later edits. PDF rendering and the deterministic summary work without AI. The image shows actual export controls from the report interface, cropped to the actions. No automatic email or background schedule is implemented.</a:t>
            </a:r>
          </a:p>
          <a:p xmlns:a="http://schemas.openxmlformats.org/drawingml/2006/main">
            <a:r>
              <a:t/>
            </a:r>
          </a:p>
          <a:p xmlns:a="http://schemas.openxmlformats.org/drawingml/2006/main">
            <a:r>
              <a:t>Source: C:\Users\khale\OneDrive\المستندات\ASU\Modules\Graduation Project 2\Basira_Graduation_Report_Chapters_1_to_5.pdf</a:t>
            </a:r>
          </a:p>
          <a:p xmlns:a="http://schemas.openxmlformats.org/drawingml/2006/main">
            <a:r>
              <a:t>Chapter 5, 5.2.14–5.2.15, pp. 54–55.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Secrets remain server-side. State-changing routes check origin and request sizes. Safe error messages avoid exposing raw provider errors, credentials or stack traces. Version checks and business-row locks coordinate concurrent changes. Deployment preparation includes CI/Vercel configuration, environment validation and migration instructions. The report does not claim a connected public host, hosted performance or continuous operation. The prototype includes responsive screens, light/dark themes and keyboard-friendly controls.</a:t>
            </a:r>
          </a:p>
          <a:p xmlns:a="http://schemas.openxmlformats.org/drawingml/2006/main">
            <a:r>
              <a:t/>
            </a:r>
          </a:p>
          <a:p xmlns:a="http://schemas.openxmlformats.org/drawingml/2006/main">
            <a:r>
              <a:t>Source: C:\Users\khale\OneDrive\المستندات\ASU\Modules\Graduation Project 2\Basira_Graduation_Report_Chapters_1_to_5.pdf</a:t>
            </a:r>
          </a:p>
          <a:p xmlns:a="http://schemas.openxmlformats.org/drawingml/2006/main">
            <a:r>
              <a:t>Chapter 5, 5.2.17–5.2.18, pp. 56–57.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about the Chapter 5 implementation, application modules and technical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755208c69b4ab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650617b2204c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c9d928f53942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34e707991d4a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1e843f5ab24d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42ad93a8154e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81E4EE-FE61-40EE-B7A2-2F26ABFDEE4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BBCBC71-67DF-4466-B939-F4F316BE7E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19BE1F-8441-4907-9AB7-167295E776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DD0834-501D-442D-8CAE-3CFA79AEFA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6691D8-06BE-4473-B448-915645BB99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2F0B357-0B18-45CA-9953-51E16CBC1C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E8B32D-FC9F-4DED-A044-F77DA17B7A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E48156E-0C20-48B4-AB0E-DD54A99917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85EA90-920F-4992-9770-12101E6E16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F45DF0-7BDF-4E72-9721-4098E1FEDF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7c530884524e5e" /><Relationship Type="http://schemas.openxmlformats.org/officeDocument/2006/relationships/slideLayout" Target="/ppt/slideLayouts/slideLayout1.xml" Id="R9cf9761abda04d00" /><Relationship Type="http://schemas.openxmlformats.org/officeDocument/2006/relationships/slideLayout" Target="/ppt/slideLayouts/slideLayout2.xml" Id="Rb7fcfca6ea5c40dc" /><Relationship Type="http://schemas.openxmlformats.org/officeDocument/2006/relationships/slideLayout" Target="/ppt/slideLayouts/slideLayout3.xml" Id="R9c36de26e97c4f4a" /><Relationship Type="http://schemas.openxmlformats.org/officeDocument/2006/relationships/slideLayout" Target="/ppt/slideLayouts/slideLayout4.xml" Id="R90ad42f10f6f4af9" /><Relationship Type="http://schemas.openxmlformats.org/officeDocument/2006/relationships/slideLayout" Target="/ppt/slideLayouts/slideLayout5.xml" Id="R273c9d91d904419e" /><Relationship Type="http://schemas.openxmlformats.org/officeDocument/2006/relationships/slideLayout" Target="/ppt/slideLayouts/slideLayout6.xml" Id="R0c31be7b44b145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f9761abda04d00"/>
    <p:sldLayoutId xmlns:r="http://schemas.openxmlformats.org/officeDocument/2006/relationships" id="2147483650" r:id="Rb7fcfca6ea5c40dc"/>
    <p:sldLayoutId xmlns:r="http://schemas.openxmlformats.org/officeDocument/2006/relationships" id="2147483651" r:id="R9c36de26e97c4f4a"/>
    <p:sldLayoutId xmlns:r="http://schemas.openxmlformats.org/officeDocument/2006/relationships" id="2147483652" r:id="R90ad42f10f6f4af9"/>
    <p:sldLayoutId xmlns:r="http://schemas.openxmlformats.org/officeDocument/2006/relationships" id="2147483653" r:id="R273c9d91d904419e"/>
    <p:sldLayoutId xmlns:r="http://schemas.openxmlformats.org/officeDocument/2006/relationships" id="2147483654" r:id="R0c31be7b44b145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de03455c064c49" /><Relationship Type="http://schemas.openxmlformats.org/officeDocument/2006/relationships/image" Target="/ppt/media/image.png" Id="R893e9a43c3ce4081" /><Relationship Type="http://schemas.openxmlformats.org/officeDocument/2006/relationships/image" Target="/ppt/media/image.svg" Id="Ra47239474e2f4d15" /><Relationship Type="http://schemas.openxmlformats.org/officeDocument/2006/relationships/notesSlide" Target="/ppt/notesSlides/notesSlide1.xml" Id="R2fa0079507ee48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080e118779431e" /><Relationship Type="http://schemas.openxmlformats.org/officeDocument/2006/relationships/notesSlide" Target="/ppt/notesSlides/notesSlide2.xml" Id="R80fabab9b3b34e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6622c1d9c84bfe" /><Relationship Type="http://schemas.openxmlformats.org/officeDocument/2006/relationships/image" Target="/ppt/media/image2.png" Id="R517e72650e8f4a1f" /><Relationship Type="http://schemas.openxmlformats.org/officeDocument/2006/relationships/notesSlide" Target="/ppt/notesSlides/notesSlide3.xml" Id="Rd4e8b38f465b48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391e28e18f426c" /><Relationship Type="http://schemas.openxmlformats.org/officeDocument/2006/relationships/image" Target="/ppt/media/image3.png" Id="Rc0e991b4f96e427b" /><Relationship Type="http://schemas.openxmlformats.org/officeDocument/2006/relationships/notesSlide" Target="/ppt/notesSlides/notesSlide4.xml" Id="Rf9776285d89e4f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6e3c5f1ea947e9" /><Relationship Type="http://schemas.openxmlformats.org/officeDocument/2006/relationships/image" Target="/ppt/media/image4.png" Id="Re150bea928684794" /><Relationship Type="http://schemas.openxmlformats.org/officeDocument/2006/relationships/notesSlide" Target="/ppt/notesSlides/notesSlide5.xml" Id="Ra80808d1210944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f961e2750f4549" /><Relationship Type="http://schemas.openxmlformats.org/officeDocument/2006/relationships/notesSlide" Target="/ppt/notesSlides/notesSlide6.xml" Id="Re4e27651f8c240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759c582bdd4e00" /><Relationship Type="http://schemas.openxmlformats.org/officeDocument/2006/relationships/notesSlide" Target="/ppt/notesSlides/notesSlide7.xml" Id="R412cb6aca65347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f1599488c7e4545" /><Relationship Type="http://schemas.openxmlformats.org/officeDocument/2006/relationships/image" Target="/ppt/media/image5.png" Id="Rd39fa14b37e345e4" /><Relationship Type="http://schemas.openxmlformats.org/officeDocument/2006/relationships/notesSlide" Target="/ppt/notesSlides/notesSlide8.xml" Id="R2ea7d493ae884e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3f9a62f2de848ca" /><Relationship Type="http://schemas.openxmlformats.org/officeDocument/2006/relationships/notesSlide" Target="/ppt/notesSlides/notesSlide9.xml" Id="R18198698f0fb44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eaf2f301d744e0e" /><Relationship Type="http://schemas.openxmlformats.org/officeDocument/2006/relationships/notesSlide" Target="/ppt/notesSlides/notesSlide10.xml" Id="R102dd6269ba34d36" /></Relationships>
</file>

<file path=ppt/slides/slide1.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D0EB788-0CB5-457B-A3F1-5737B5EA4AEA}"/>
              </a:ext>
            </a:extLst>
          </p:cNvPr>
          <p:cNvSpPr>
            <a:spLocks xmlns:a="http://schemas.openxmlformats.org/drawingml/2006/main" noGrp="1"/>
          </p:cNvSpPr>
          <p:nvPr/>
        </p:nvSpPr>
        <p:spPr>
          <a:xfrm xmlns:a="http://schemas.openxmlformats.org/drawingml/2006/main">
            <a:off x="685800" y="4953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B"/>
                </a:solidFill>
                <a:latin typeface="Arial"/>
                <a:ea typeface="Arial"/>
                <a:cs typeface="Arial"/>
              </a:defRPr>
            </a:defPPr>
          </a:lstStyle>
          <a:p xmlns:a="http://schemas.openxmlformats.org/drawingml/2006/main">
            <a:pPr algn="l">
              <a:defRPr sz="3300" b="1">
                <a:solidFill>
                  <a:srgbClr val="142D3B"/>
                </a:solidFill>
                <a:latin typeface="Arial"/>
                <a:ea typeface="Arial"/>
                <a:cs typeface="Arial"/>
              </a:defRPr>
            </a:pPr>
            <a:r>
              <a:rPr sz="3300" b="1">
                <a:solidFill>
                  <a:srgbClr val="142D3B"/>
                </a:solidFill>
                <a:latin typeface="Arial"/>
                <a:ea typeface="Arial"/>
                <a:cs typeface="Arial"/>
              </a:rPr>
              <a:t>Introduction</a:t>
            </a:r>
          </a:p>
        </p:txBody>
      </p:sp>
      <p:sp>
        <p:nvSpPr>
          <p:cNvPr id="2" name="slide-number">
            <a:extLst xmlns:a="http://schemas.openxmlformats.org/drawingml/2006/main">
              <a:ext uri="{FF2B5EF4-FFF2-40B4-BE49-F238E27FC236}">
                <a16:creationId xmlns:a16="http://schemas.microsoft.com/office/drawing/2014/main" id="{B920135B-1292-4B57-A4F5-4826E1BF3E25}"/>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575"/>
                </a:solidFill>
                <a:latin typeface="Arial"/>
                <a:ea typeface="Arial"/>
                <a:cs typeface="Arial"/>
              </a:defRPr>
            </a:defPPr>
          </a:lstStyle>
          <a:p xmlns:a="http://schemas.openxmlformats.org/drawingml/2006/main">
            <a:pPr algn="r">
              <a:defRPr sz="1500" b="0">
                <a:solidFill>
                  <a:srgbClr val="526575"/>
                </a:solidFill>
                <a:latin typeface="Arial"/>
                <a:ea typeface="Arial"/>
                <a:cs typeface="Arial"/>
              </a:defRPr>
            </a:pPr>
            <a:r>
              <a:rPr sz="1500" b="0">
                <a:solidFill>
                  <a:srgbClr val="526575"/>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7356A6B7-56A8-4EED-824F-63EAA78A41D6}"/>
              </a:ext>
            </a:extLst>
          </p:cNvPr>
          <p:cNvPicPr>
            <a:picLocks xmlns:a="http://schemas.openxmlformats.org/drawingml/2006/main" noChangeAspect="1"/>
          </p:cNvPicPr>
          <p:nvPr/>
        </p:nvPicPr>
        <p:blipFill>
          <a:blip xmlns:r="http://schemas.openxmlformats.org/officeDocument/2006/relationships" xmlns:a="http://schemas.openxmlformats.org/drawingml/2006/main" r:embed="R893e9a43c3ce4081">
            <a:extLst>
              <a:ext uri="{96DAC541-7B7A-43D3-8B79-37D633B846F1}">
                <asvg:svgBlip xmlns:asvg="http://schemas.microsoft.com/office/drawing/2016/SVG/main" r:embed="Ra47239474e2f4d15"/>
              </a:ext>
            </a:extLst>
          </a:blip>
          <a:stretch xmlns:a="http://schemas.openxmlformats.org/drawingml/2006/main"/>
        </p:blipFill>
        <p:spPr>
          <a:xfrm xmlns:a="http://schemas.openxmlformats.org/drawingml/2006/main">
            <a:off x="9420225" y="514350"/>
            <a:ext cx="2085975" cy="561975"/>
          </a:xfrm>
          <a:prstGeom xmlns:a="http://schemas.openxmlformats.org/drawingml/2006/main" prst="rect">
            <a:avLst/>
          </a:prstGeom>
        </p:spPr>
      </p:pic>
      <p:sp>
        <p:nvSpPr>
          <p:cNvPr id="4" name="chapter">
            <a:extLst xmlns:a="http://schemas.openxmlformats.org/drawingml/2006/main">
              <a:ext uri="{FF2B5EF4-FFF2-40B4-BE49-F238E27FC236}">
                <a16:creationId xmlns:a16="http://schemas.microsoft.com/office/drawing/2014/main" id="{BC630E06-71FB-47B5-B582-6A2D6E953633}"/>
              </a:ext>
            </a:extLst>
          </p:cNvPr>
          <p:cNvSpPr>
            <a:spLocks xmlns:a="http://schemas.openxmlformats.org/drawingml/2006/main" noGrp="1"/>
          </p:cNvSpPr>
          <p:nvPr/>
        </p:nvSpPr>
        <p:spPr>
          <a:xfrm xmlns:a="http://schemas.openxmlformats.org/drawingml/2006/main">
            <a:off x="685800" y="141922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87F8C"/>
                </a:solidFill>
                <a:latin typeface="Arial"/>
                <a:ea typeface="Arial"/>
                <a:cs typeface="Arial"/>
              </a:defRPr>
            </a:defPPr>
          </a:lstStyle>
          <a:p xmlns:a="http://schemas.openxmlformats.org/drawingml/2006/main">
            <a:pPr algn="l">
              <a:defRPr sz="1725" b="1">
                <a:solidFill>
                  <a:srgbClr val="087F8C"/>
                </a:solidFill>
                <a:latin typeface="Arial"/>
                <a:ea typeface="Arial"/>
                <a:cs typeface="Arial"/>
              </a:defRPr>
            </a:pPr>
            <a:r>
              <a:rPr sz="1725" b="1">
                <a:solidFill>
                  <a:srgbClr val="087F8C"/>
                </a:solidFill>
                <a:latin typeface="Arial"/>
                <a:ea typeface="Arial"/>
                <a:cs typeface="Arial"/>
              </a:rPr>
              <a:t>CHAPTER 5  /  SOFTWARE IMPLEMENTATION</a:t>
            </a:r>
          </a:p>
        </p:txBody>
      </p:sp>
      <p:sp>
        <p:nvSpPr>
          <p:cNvPr id="5" name="academic-title">
            <a:extLst xmlns:a="http://schemas.openxmlformats.org/drawingml/2006/main">
              <a:ext uri="{FF2B5EF4-FFF2-40B4-BE49-F238E27FC236}">
                <a16:creationId xmlns:a16="http://schemas.microsoft.com/office/drawing/2014/main" id="{3279FF28-58C6-408F-868A-6703786A8AF5}"/>
              </a:ext>
            </a:extLst>
          </p:cNvPr>
          <p:cNvSpPr>
            <a:spLocks xmlns:a="http://schemas.openxmlformats.org/drawingml/2006/main" noGrp="1"/>
          </p:cNvSpPr>
          <p:nvPr/>
        </p:nvSpPr>
        <p:spPr>
          <a:xfrm xmlns:a="http://schemas.openxmlformats.org/drawingml/2006/main">
            <a:off x="685800" y="2028825"/>
            <a:ext cx="10572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42D3B"/>
                </a:solidFill>
                <a:latin typeface="Arial"/>
                <a:ea typeface="Arial"/>
                <a:cs typeface="Arial"/>
              </a:defRPr>
            </a:defPPr>
          </a:lstStyle>
          <a:p xmlns:a="http://schemas.openxmlformats.org/drawingml/2006/main">
            <a:pPr algn="l">
              <a:defRPr sz="3150" b="1">
                <a:solidFill>
                  <a:srgbClr val="142D3B"/>
                </a:solidFill>
                <a:latin typeface="Arial"/>
                <a:ea typeface="Arial"/>
                <a:cs typeface="Arial"/>
              </a:defRPr>
            </a:pPr>
            <a:r>
              <a:rPr sz="3150" b="1">
                <a:solidFill>
                  <a:srgbClr val="142D3B"/>
                </a:solidFill>
                <a:latin typeface="Arial"/>
                <a:ea typeface="Arial"/>
                <a:cs typeface="Arial"/>
              </a:rPr>
              <a:t>Intelligent Decision Support System</a:t>
            </a:r>
          </a:p>
          <a:p xmlns:a="http://schemas.openxmlformats.org/drawingml/2006/main">
            <a:pPr algn="l">
              <a:defRPr sz="3150" b="1">
                <a:solidFill>
                  <a:srgbClr val="142D3B"/>
                </a:solidFill>
                <a:latin typeface="Arial"/>
                <a:ea typeface="Arial"/>
                <a:cs typeface="Arial"/>
              </a:defRPr>
            </a:pPr>
            <a:r>
              <a:rPr sz="3150" b="1">
                <a:solidFill>
                  <a:srgbClr val="142D3B"/>
                </a:solidFill>
                <a:latin typeface="Arial"/>
                <a:ea typeface="Arial"/>
                <a:cs typeface="Arial"/>
              </a:rPr>
              <a:t>with Predictive Analytics</a:t>
            </a:r>
          </a:p>
          <a:p xmlns:a="http://schemas.openxmlformats.org/drawingml/2006/main">
            <a:pPr algn="l">
              <a:defRPr sz="3150" b="1">
                <a:solidFill>
                  <a:srgbClr val="142D3B"/>
                </a:solidFill>
                <a:latin typeface="Arial"/>
                <a:ea typeface="Arial"/>
                <a:cs typeface="Arial"/>
              </a:defRPr>
            </a:pPr>
            <a:r>
              <a:rPr sz="3150" b="1">
                <a:solidFill>
                  <a:srgbClr val="142D3B"/>
                </a:solidFill>
                <a:latin typeface="Arial"/>
                <a:ea typeface="Arial"/>
                <a:cs typeface="Arial"/>
              </a:rPr>
              <a:t>for Small Businesses</a:t>
            </a:r>
          </a:p>
        </p:txBody>
      </p:sp>
      <p:sp>
        <p:nvSpPr>
          <p:cNvPr id="6" name="project-summary">
            <a:extLst xmlns:a="http://schemas.openxmlformats.org/drawingml/2006/main">
              <a:ext uri="{FF2B5EF4-FFF2-40B4-BE49-F238E27FC236}">
                <a16:creationId xmlns:a16="http://schemas.microsoft.com/office/drawing/2014/main" id="{A8A99D56-9647-44FE-BA30-937EADB649DF}"/>
              </a:ext>
            </a:extLst>
          </p:cNvPr>
          <p:cNvSpPr>
            <a:spLocks xmlns:a="http://schemas.openxmlformats.org/drawingml/2006/main" noGrp="1"/>
          </p:cNvSpPr>
          <p:nvPr/>
        </p:nvSpPr>
        <p:spPr>
          <a:xfrm xmlns:a="http://schemas.openxmlformats.org/drawingml/2006/main">
            <a:off x="685800" y="4000500"/>
            <a:ext cx="1028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42D3B"/>
                </a:solidFill>
                <a:latin typeface="Arial"/>
                <a:ea typeface="Arial"/>
                <a:cs typeface="Arial"/>
              </a:defRPr>
            </a:defPPr>
          </a:lstStyle>
          <a:p xmlns:a="http://schemas.openxmlformats.org/drawingml/2006/main">
            <a:pPr algn="l">
              <a:defRPr sz="2175" b="0">
                <a:solidFill>
                  <a:srgbClr val="142D3B"/>
                </a:solidFill>
                <a:latin typeface="Arial"/>
                <a:ea typeface="Arial"/>
                <a:cs typeface="Arial"/>
              </a:defRPr>
            </a:pPr>
            <a:r>
              <a:rPr sz="2175" b="0">
                <a:solidFill>
                  <a:srgbClr val="142D3B"/>
                </a:solidFill>
                <a:latin typeface="Arial"/>
                <a:ea typeface="Arial"/>
                <a:cs typeface="Arial"/>
              </a:rPr>
              <a:t>Basira is a web platform that turns small-business records into dashboards, forecasts and AI-supported explanations for everyday decisions.</a:t>
            </a:r>
          </a:p>
        </p:txBody>
      </p:sp>
      <p:sp>
        <p:nvSpPr>
          <p:cNvPr id="7" name="presenter">
            <a:extLst xmlns:a="http://schemas.openxmlformats.org/drawingml/2006/main">
              <a:ext uri="{FF2B5EF4-FFF2-40B4-BE49-F238E27FC236}">
                <a16:creationId xmlns:a16="http://schemas.microsoft.com/office/drawing/2014/main" id="{68D24F41-ACFD-406C-B6D4-F3F65E8B17E8}"/>
              </a:ext>
            </a:extLst>
          </p:cNvPr>
          <p:cNvSpPr>
            <a:spLocks xmlns:a="http://schemas.openxmlformats.org/drawingml/2006/main" noGrp="1"/>
          </p:cNvSpPr>
          <p:nvPr/>
        </p:nvSpPr>
        <p:spPr>
          <a:xfrm xmlns:a="http://schemas.openxmlformats.org/drawingml/2006/main">
            <a:off x="685800" y="5562600"/>
            <a:ext cx="1000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42D3B"/>
                </a:solidFill>
                <a:latin typeface="Arial"/>
                <a:ea typeface="Arial"/>
                <a:cs typeface="Arial"/>
              </a:defRPr>
            </a:defPPr>
          </a:lstStyle>
          <a:p xmlns:a="http://schemas.openxmlformats.org/drawingml/2006/main">
            <a:pPr algn="l">
              <a:defRPr sz="1650" b="0">
                <a:solidFill>
                  <a:srgbClr val="142D3B"/>
                </a:solidFill>
                <a:latin typeface="Arial"/>
                <a:ea typeface="Arial"/>
                <a:cs typeface="Arial"/>
              </a:defRPr>
            </a:pPr>
            <a:r>
              <a:rPr sz="1650" b="0">
                <a:solidFill>
                  <a:srgbClr val="142D3B"/>
                </a:solidFill>
                <a:latin typeface="Arial"/>
                <a:ea typeface="Arial"/>
                <a:cs typeface="Arial"/>
              </a:rPr>
              <a:t>Khaled Waled Abdulakder (20236110155)</a:t>
            </a:r>
          </a:p>
        </p:txBody>
      </p:sp>
      <p:sp>
        <p:nvSpPr>
          <p:cNvPr id="8" name="supervisor">
            <a:extLst xmlns:a="http://schemas.openxmlformats.org/drawingml/2006/main">
              <a:ext uri="{FF2B5EF4-FFF2-40B4-BE49-F238E27FC236}">
                <a16:creationId xmlns:a16="http://schemas.microsoft.com/office/drawing/2014/main" id="{7D2C0436-4610-4077-8AB6-D0EE0B22999D}"/>
              </a:ext>
            </a:extLst>
          </p:cNvPr>
          <p:cNvSpPr>
            <a:spLocks xmlns:a="http://schemas.openxmlformats.org/drawingml/2006/main" noGrp="1"/>
          </p:cNvSpPr>
          <p:nvPr/>
        </p:nvSpPr>
        <p:spPr>
          <a:xfrm xmlns:a="http://schemas.openxmlformats.org/drawingml/2006/main">
            <a:off x="685800" y="59245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26575"/>
                </a:solidFill>
                <a:latin typeface="Arial"/>
                <a:ea typeface="Arial"/>
                <a:cs typeface="Arial"/>
              </a:defRPr>
            </a:defPPr>
          </a:lstStyle>
          <a:p xmlns:a="http://schemas.openxmlformats.org/drawingml/2006/main">
            <a:pPr algn="l">
              <a:defRPr sz="1650" b="0">
                <a:solidFill>
                  <a:srgbClr val="526575"/>
                </a:solidFill>
                <a:latin typeface="Arial"/>
                <a:ea typeface="Arial"/>
                <a:cs typeface="Arial"/>
              </a:defRPr>
            </a:pPr>
            <a:r>
              <a:rPr sz="1650" b="0">
                <a:solidFill>
                  <a:srgbClr val="526575"/>
                </a:solidFill>
                <a:latin typeface="Arial"/>
                <a:ea typeface="Arial"/>
                <a:cs typeface="Arial"/>
              </a:rPr>
              <a:t>Supervisor: Dr. Hilal Al-Bayatti</a:t>
            </a:r>
          </a:p>
        </p:txBody>
      </p:sp>
    </p:spTree>
    <p:extLst>
      <p:ext uri="{BB962C8B-B14F-4D97-AF65-F5344CB8AC3E}">
        <p14:creationId xmlns:p14="http://schemas.microsoft.com/office/powerpoint/2010/main" val="1872879712"/>
      </p:ext>
    </p:extLst>
  </p:cSld>
</p:sld>
</file>

<file path=ppt/slides/slide2.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30A7F6A-B6F3-4782-BC53-42E57840EDEE}"/>
              </a:ext>
            </a:extLst>
          </p:cNvPr>
          <p:cNvSpPr>
            <a:spLocks xmlns:a="http://schemas.openxmlformats.org/drawingml/2006/main" noGrp="1"/>
          </p:cNvSpPr>
          <p:nvPr/>
        </p:nvSpPr>
        <p:spPr>
          <a:xfrm xmlns:a="http://schemas.openxmlformats.org/drawingml/2006/main">
            <a:off x="685800" y="4953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B"/>
                </a:solidFill>
                <a:latin typeface="Arial"/>
                <a:ea typeface="Arial"/>
                <a:cs typeface="Arial"/>
              </a:defRPr>
            </a:defPPr>
          </a:lstStyle>
          <a:p xmlns:a="http://schemas.openxmlformats.org/drawingml/2006/main">
            <a:pPr algn="l">
              <a:defRPr sz="3300" b="1">
                <a:solidFill>
                  <a:srgbClr val="142D3B"/>
                </a:solidFill>
                <a:latin typeface="Arial"/>
                <a:ea typeface="Arial"/>
                <a:cs typeface="Arial"/>
              </a:defRPr>
            </a:pPr>
            <a:r>
              <a:rPr sz="3300" b="1">
                <a:solidFill>
                  <a:srgbClr val="142D3B"/>
                </a:solidFill>
                <a:latin typeface="Arial"/>
                <a:ea typeface="Arial"/>
                <a:cs typeface="Arial"/>
              </a:rPr>
              <a:t>Technology and architecture</a:t>
            </a:r>
          </a:p>
        </p:txBody>
      </p:sp>
      <p:sp>
        <p:nvSpPr>
          <p:cNvPr id="2" name="slide-number">
            <a:extLst xmlns:a="http://schemas.openxmlformats.org/drawingml/2006/main">
              <a:ext uri="{FF2B5EF4-FFF2-40B4-BE49-F238E27FC236}">
                <a16:creationId xmlns:a16="http://schemas.microsoft.com/office/drawing/2014/main" id="{C8AA715D-D869-41EC-838C-A6D852BBBEC1}"/>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575"/>
                </a:solidFill>
                <a:latin typeface="Arial"/>
                <a:ea typeface="Arial"/>
                <a:cs typeface="Arial"/>
              </a:defRPr>
            </a:defPPr>
          </a:lstStyle>
          <a:p xmlns:a="http://schemas.openxmlformats.org/drawingml/2006/main">
            <a:pPr algn="r">
              <a:defRPr sz="1500" b="0">
                <a:solidFill>
                  <a:srgbClr val="526575"/>
                </a:solidFill>
                <a:latin typeface="Arial"/>
                <a:ea typeface="Arial"/>
                <a:cs typeface="Arial"/>
              </a:defRPr>
            </a:pPr>
            <a:r>
              <a:rPr sz="1500" b="0">
                <a:solidFill>
                  <a:srgbClr val="526575"/>
                </a:solidFill>
                <a:latin typeface="Arial"/>
                <a:ea typeface="Arial"/>
                <a:cs typeface="Arial"/>
              </a:rPr>
              <a:t>02</a:t>
            </a:r>
          </a:p>
        </p:txBody>
      </p:sp>
      <p:sp>
        <p:nvSpPr>
          <p:cNvPr id="3" name="architecture-summary">
            <a:extLst xmlns:a="http://schemas.openxmlformats.org/drawingml/2006/main">
              <a:ext uri="{FF2B5EF4-FFF2-40B4-BE49-F238E27FC236}">
                <a16:creationId xmlns:a16="http://schemas.microsoft.com/office/drawing/2014/main" id="{B8215FA5-E8E3-4308-9790-B27A063FF020}"/>
              </a:ext>
            </a:extLst>
          </p:cNvPr>
          <p:cNvSpPr>
            <a:spLocks xmlns:a="http://schemas.openxmlformats.org/drawingml/2006/main" noGrp="1"/>
          </p:cNvSpPr>
          <p:nvPr/>
        </p:nvSpPr>
        <p:spPr>
          <a:xfrm xmlns:a="http://schemas.openxmlformats.org/drawingml/2006/main">
            <a:off x="685800" y="13335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D3B"/>
                </a:solidFill>
                <a:latin typeface="Arial"/>
                <a:ea typeface="Arial"/>
                <a:cs typeface="Arial"/>
              </a:defRPr>
            </a:defPPr>
          </a:lstStyle>
          <a:p xmlns:a="http://schemas.openxmlformats.org/drawingml/2006/main">
            <a:pPr algn="l">
              <a:defRPr sz="2100" b="0">
                <a:solidFill>
                  <a:srgbClr val="142D3B"/>
                </a:solidFill>
                <a:latin typeface="Arial"/>
                <a:ea typeface="Arial"/>
                <a:cs typeface="Arial"/>
              </a:defRPr>
            </a:pPr>
            <a:r>
              <a:rPr sz="2100" b="0">
                <a:solidFill>
                  <a:srgbClr val="142D3B"/>
                </a:solidFill>
                <a:latin typeface="Arial"/>
                <a:ea typeface="Arial"/>
                <a:cs typeface="Arial"/>
              </a:rPr>
              <a:t>One Next.js application serves the interface and the business API.</a:t>
            </a:r>
          </a:p>
        </p:txBody>
      </p:sp>
      <p:graphicFrame>
        <p:nvGraphicFramePr>
          <p:cNvPr id="4" name="">
            <a:extLst xmlns:a="http://schemas.openxmlformats.org/drawingml/2006/main">
              <a:ext uri="{FF2B5EF4-FFF2-40B4-BE49-F238E27FC236}">
                <a16:creationId xmlns:a16="http://schemas.microsoft.com/office/drawing/2014/main" id="{9F43D242-BD51-4EA2-B28E-EF237DD42702}"/>
              </a:ext>
            </a:extLst>
          </p:cNvPr>
          <p:cNvGraphicFramePr/>
          <p:nvPr/>
        </p:nvGraphicFramePr>
        <p:xfrm>
          <a:off xmlns:a="http://schemas.openxmlformats.org/drawingml/2006/main" x="685800" y="2133600"/>
          <a:ext xmlns:a="http://schemas.openxmlformats.org/drawingml/2006/main" cx="7524750" cy="3219450"/>
        </p:xfrm>
        <a:graphic xmlns:a="http://schemas.openxmlformats.org/drawingml/2006/main">
          <a:graphicData uri="http://schemas.openxmlformats.org/drawingml/2006/table">
            <a:tbl>
              <a:tblPr firstRow="0" bandRow="0"/>
              <a:tblGrid>
                <a:gridCol w="2047875"/>
                <a:gridCol w="5476875"/>
              </a:tblGrid>
              <a:tr h="643890">
                <a:tc>
                  <a:txBody>
                    <a:bodyPr lIns="152400" tIns="114300" rIns="114300" bIns="76200"/>
                    <a:lstStyle/>
                    <a:p>
                      <a:r>
                        <a:rPr sz="1800" b="1">
                          <a:solidFill>
                            <a:srgbClr val="FFFFFF"/>
                          </a:solidFill>
                          <a:latin typeface="Arial"/>
                          <a:ea typeface="Arial"/>
                          <a:cs typeface="Arial"/>
                        </a:rPr>
                        <a:t>Layer</a:t>
                      </a:r>
                    </a:p>
                  </a:txBody>
                  <a:tcPr marL="91440" marR="91440" marT="45720" marB="45720" anchor="ctr">
                    <a:lnL w="9525">
                      <a:solidFill>
                        <a:srgbClr val="D6E4E8"/>
                      </a:solidFill>
                      <a:prstDash val="solid"/>
                    </a:lnL>
                    <a:lnR w="9525">
                      <a:solidFill>
                        <a:srgbClr val="D6E4E8"/>
                      </a:solidFill>
                      <a:prstDash val="solid"/>
                    </a:lnR>
                    <a:lnT w="9525">
                      <a:solidFill>
                        <a:srgbClr val="D6E4E8"/>
                      </a:solidFill>
                      <a:prstDash val="solid"/>
                    </a:lnT>
                    <a:lnB w="9525">
                      <a:solidFill>
                        <a:srgbClr val="D6E4E8"/>
                      </a:solidFill>
                      <a:prstDash val="solid"/>
                    </a:lnB>
                    <a:solidFill>
                      <a:srgbClr val="142D3B"/>
                    </a:solidFill>
                  </a:tcPr>
                </a:tc>
                <a:tc>
                  <a:txBody>
                    <a:bodyPr lIns="152400" tIns="114300" rIns="114300" bIns="76200"/>
                    <a:lstStyle/>
                    <a:p>
                      <a:r>
                        <a:rPr sz="1800" b="1">
                          <a:solidFill>
                            <a:srgbClr val="FFFFFF"/>
                          </a:solidFill>
                          <a:latin typeface="Arial"/>
                          <a:ea typeface="Arial"/>
                          <a:cs typeface="Arial"/>
                        </a:rPr>
                        <a:t>Implementation</a:t>
                      </a:r>
                    </a:p>
                  </a:txBody>
                  <a:tcPr marL="91440" marR="91440" marT="45720" marB="45720" anchor="ctr">
                    <a:lnR w="9525">
                      <a:solidFill>
                        <a:srgbClr val="D6E4E8"/>
                      </a:solidFill>
                      <a:prstDash val="solid"/>
                    </a:lnR>
                    <a:lnT w="9525">
                      <a:solidFill>
                        <a:srgbClr val="D6E4E8"/>
                      </a:solidFill>
                      <a:prstDash val="solid"/>
                    </a:lnT>
                    <a:lnB w="9525">
                      <a:solidFill>
                        <a:srgbClr val="D6E4E8"/>
                      </a:solidFill>
                      <a:prstDash val="solid"/>
                    </a:lnB>
                    <a:solidFill>
                      <a:srgbClr val="142D3B"/>
                    </a:solidFill>
                  </a:tcPr>
                </a:tc>
              </a:tr>
              <a:tr h="643890">
                <a:tc>
                  <a:txBody>
                    <a:bodyPr lIns="152400" tIns="114300" rIns="114300" bIns="76200"/>
                    <a:lstStyle/>
                    <a:p>
                      <a:r>
                        <a:rPr sz="1800" b="0">
                          <a:solidFill>
                            <a:srgbClr val="142D3B"/>
                          </a:solidFill>
                          <a:latin typeface="Arial"/>
                          <a:ea typeface="Arial"/>
                          <a:cs typeface="Arial"/>
                        </a:rPr>
                        <a:t>Interface</a:t>
                      </a:r>
                    </a:p>
                  </a:txBody>
                  <a:tcPr marL="91440" marR="91440" marT="45720" marB="45720" anchor="ctr">
                    <a:lnL w="9525">
                      <a:solidFill>
                        <a:srgbClr val="D6E4E8"/>
                      </a:solidFill>
                      <a:prstDash val="solid"/>
                    </a:lnL>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React, Next.js and Tailwind CSS</a:t>
                      </a:r>
                    </a:p>
                  </a:txBody>
                  <a:tcPr marL="91440" marR="91440" marT="45720" marB="45720" anchor="ctr">
                    <a:lnR w="9525">
                      <a:solidFill>
                        <a:srgbClr val="D6E4E8"/>
                      </a:solidFill>
                      <a:prstDash val="solid"/>
                    </a:lnR>
                    <a:lnB w="9525">
                      <a:solidFill>
                        <a:srgbClr val="D6E4E8"/>
                      </a:solidFill>
                      <a:prstDash val="solid"/>
                    </a:lnB>
                    <a:solidFill>
                      <a:srgbClr val="FFFFFF"/>
                    </a:solidFill>
                  </a:tcPr>
                </a:tc>
              </a:tr>
              <a:tr h="643890">
                <a:tc>
                  <a:txBody>
                    <a:bodyPr lIns="152400" tIns="114300" rIns="114300" bIns="76200"/>
                    <a:lstStyle/>
                    <a:p>
                      <a:r>
                        <a:rPr sz="1800" b="0">
                          <a:solidFill>
                            <a:srgbClr val="142D3B"/>
                          </a:solidFill>
                          <a:latin typeface="Arial"/>
                          <a:ea typeface="Arial"/>
                          <a:cs typeface="Arial"/>
                        </a:rPr>
                        <a:t>Server</a:t>
                      </a:r>
                    </a:p>
                  </a:txBody>
                  <a:tcPr marL="91440" marR="91440" marT="45720" marB="45720" anchor="ctr">
                    <a:lnL w="9525">
                      <a:solidFill>
                        <a:srgbClr val="D6E4E8"/>
                      </a:solidFill>
                      <a:prstDash val="solid"/>
                    </a:lnL>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TypeScript, Node.js and Route Handlers</a:t>
                      </a:r>
                    </a:p>
                  </a:txBody>
                  <a:tcPr marL="91440" marR="91440" marT="45720" marB="45720" anchor="ctr">
                    <a:lnR w="9525">
                      <a:solidFill>
                        <a:srgbClr val="D6E4E8"/>
                      </a:solidFill>
                      <a:prstDash val="solid"/>
                    </a:lnR>
                    <a:lnB w="9525">
                      <a:solidFill>
                        <a:srgbClr val="D6E4E8"/>
                      </a:solidFill>
                      <a:prstDash val="solid"/>
                    </a:lnB>
                    <a:solidFill>
                      <a:srgbClr val="FFFFFF"/>
                    </a:solidFill>
                  </a:tcPr>
                </a:tc>
              </a:tr>
              <a:tr h="643890">
                <a:tc>
                  <a:txBody>
                    <a:bodyPr lIns="152400" tIns="114300" rIns="114300" bIns="76200"/>
                    <a:lstStyle/>
                    <a:p>
                      <a:r>
                        <a:rPr sz="1800" b="0">
                          <a:solidFill>
                            <a:srgbClr val="142D3B"/>
                          </a:solidFill>
                          <a:latin typeface="Arial"/>
                          <a:ea typeface="Arial"/>
                          <a:cs typeface="Arial"/>
                        </a:rPr>
                        <a:t>Database</a:t>
                      </a:r>
                    </a:p>
                  </a:txBody>
                  <a:tcPr marL="91440" marR="91440" marT="45720" marB="45720" anchor="ctr">
                    <a:lnL w="9525">
                      <a:solidFill>
                        <a:srgbClr val="D6E4E8"/>
                      </a:solidFill>
                      <a:prstDash val="solid"/>
                    </a:lnL>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PostgreSQL 18 through Prisma ORM</a:t>
                      </a:r>
                    </a:p>
                  </a:txBody>
                  <a:tcPr marL="91440" marR="91440" marT="45720" marB="45720" anchor="ctr">
                    <a:lnR w="9525">
                      <a:solidFill>
                        <a:srgbClr val="D6E4E8"/>
                      </a:solidFill>
                      <a:prstDash val="solid"/>
                    </a:lnR>
                    <a:lnB w="9525">
                      <a:solidFill>
                        <a:srgbClr val="D6E4E8"/>
                      </a:solidFill>
                      <a:prstDash val="solid"/>
                    </a:lnB>
                    <a:solidFill>
                      <a:srgbClr val="FFFFFF"/>
                    </a:solidFill>
                  </a:tcPr>
                </a:tc>
              </a:tr>
              <a:tr h="643890">
                <a:tc>
                  <a:txBody>
                    <a:bodyPr lIns="152400" tIns="114300" rIns="114300" bIns="76200"/>
                    <a:lstStyle/>
                    <a:p>
                      <a:r>
                        <a:rPr sz="1800" b="0">
                          <a:solidFill>
                            <a:srgbClr val="142D3B"/>
                          </a:solidFill>
                          <a:latin typeface="Arial"/>
                          <a:ea typeface="Arial"/>
                          <a:cs typeface="Arial"/>
                        </a:rPr>
                        <a:t>External services</a:t>
                      </a:r>
                    </a:p>
                  </a:txBody>
                  <a:tcPr marL="91440" marR="91440" marT="45720" marB="45720" anchor="ctr">
                    <a:lnL w="9525">
                      <a:solidFill>
                        <a:srgbClr val="D6E4E8"/>
                      </a:solidFill>
                      <a:prstDash val="solid"/>
                    </a:lnL>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Google sign-in and NVIDIA AI</a:t>
                      </a:r>
                    </a:p>
                  </a:txBody>
                  <a:tcPr marL="91440" marR="91440" marT="45720" marB="45720" anchor="ctr">
                    <a:lnR w="9525">
                      <a:solidFill>
                        <a:srgbClr val="D6E4E8"/>
                      </a:solidFill>
                      <a:prstDash val="solid"/>
                    </a:lnR>
                    <a:lnB w="9525">
                      <a:solidFill>
                        <a:srgbClr val="D6E4E8"/>
                      </a:solidFill>
                      <a:prstDash val="solid"/>
                    </a:lnB>
                    <a:solidFill>
                      <a:srgbClr val="FFFFFF"/>
                    </a:solidFill>
                  </a:tcPr>
                </a:tc>
              </a:tr>
            </a:tbl>
          </a:graphicData>
        </a:graphic>
      </p:graphicFrame>
      <p:sp>
        <p:nvSpPr>
          <p:cNvPr id="5" name="machine-heading">
            <a:extLst xmlns:a="http://schemas.openxmlformats.org/drawingml/2006/main">
              <a:ext uri="{FF2B5EF4-FFF2-40B4-BE49-F238E27FC236}">
                <a16:creationId xmlns:a16="http://schemas.microsoft.com/office/drawing/2014/main" id="{90E5F041-EE90-453C-8711-6AE5A2761210}"/>
              </a:ext>
            </a:extLst>
          </p:cNvPr>
          <p:cNvSpPr>
            <a:spLocks xmlns:a="http://schemas.openxmlformats.org/drawingml/2006/main" noGrp="1"/>
          </p:cNvSpPr>
          <p:nvPr/>
        </p:nvSpPr>
        <p:spPr>
          <a:xfrm xmlns:a="http://schemas.openxmlformats.org/drawingml/2006/main">
            <a:off x="8705850" y="2152650"/>
            <a:ext cx="280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Local setup</a:t>
            </a:r>
          </a:p>
        </p:txBody>
      </p:sp>
      <p:sp>
        <p:nvSpPr>
          <p:cNvPr id="6" name="machine-body">
            <a:extLst xmlns:a="http://schemas.openxmlformats.org/drawingml/2006/main">
              <a:ext uri="{FF2B5EF4-FFF2-40B4-BE49-F238E27FC236}">
                <a16:creationId xmlns:a16="http://schemas.microsoft.com/office/drawing/2014/main" id="{5FD2B78A-B11E-4706-8910-2E06B1A6FD63}"/>
              </a:ext>
            </a:extLst>
          </p:cNvPr>
          <p:cNvSpPr>
            <a:spLocks xmlns:a="http://schemas.openxmlformats.org/drawingml/2006/main" noGrp="1"/>
          </p:cNvSpPr>
          <p:nvPr/>
        </p:nvSpPr>
        <p:spPr>
          <a:xfrm xmlns:a="http://schemas.openxmlformats.org/drawingml/2006/main">
            <a:off x="8705850" y="2686050"/>
            <a:ext cx="2800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Windows 11</a:t>
            </a:r>
          </a:p>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Intel Core i7-12700H</a:t>
            </a:r>
          </a:p>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16 GB RAM</a:t>
            </a:r>
          </a:p>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1 TB SSD</a:t>
            </a:r>
          </a:p>
        </p:txBody>
      </p:sp>
      <p:sp>
        <p:nvSpPr>
          <p:cNvPr id="7" name="architecture-boundary">
            <a:extLst xmlns:a="http://schemas.openxmlformats.org/drawingml/2006/main">
              <a:ext uri="{FF2B5EF4-FFF2-40B4-BE49-F238E27FC236}">
                <a16:creationId xmlns:a16="http://schemas.microsoft.com/office/drawing/2014/main" id="{D6343FBB-4777-4B99-BD59-E0EE9939C0EA}"/>
              </a:ext>
            </a:extLst>
          </p:cNvPr>
          <p:cNvSpPr>
            <a:spLocks xmlns:a="http://schemas.openxmlformats.org/drawingml/2006/main" noGrp="1"/>
          </p:cNvSpPr>
          <p:nvPr/>
        </p:nvSpPr>
        <p:spPr>
          <a:xfrm xmlns:a="http://schemas.openxmlformats.org/drawingml/2006/main">
            <a:off x="685800" y="57245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8C"/>
                </a:solidFill>
                <a:latin typeface="Arial"/>
                <a:ea typeface="Arial"/>
                <a:cs typeface="Arial"/>
              </a:defRPr>
            </a:defPPr>
          </a:lstStyle>
          <a:p xmlns:a="http://schemas.openxmlformats.org/drawingml/2006/main">
            <a:pPr algn="l">
              <a:defRPr sz="1800" b="1">
                <a:solidFill>
                  <a:srgbClr val="087F8C"/>
                </a:solidFill>
                <a:latin typeface="Arial"/>
                <a:ea typeface="Arial"/>
                <a:cs typeface="Arial"/>
              </a:defRPr>
            </a:pPr>
            <a:r>
              <a:rPr sz="1800" b="1">
                <a:solidFill>
                  <a:srgbClr val="087F8C"/>
                </a:solidFill>
                <a:latin typeface="Arial"/>
                <a:ea typeface="Arial"/>
                <a:cs typeface="Arial"/>
              </a:rPr>
              <a:t>The server validates requests and checks ownership before database access.</a:t>
            </a:r>
          </a:p>
        </p:txBody>
      </p:sp>
    </p:spTree>
    <p:extLst>
      <p:ext uri="{BB962C8B-B14F-4D97-AF65-F5344CB8AC3E}">
        <p14:creationId xmlns:p14="http://schemas.microsoft.com/office/powerpoint/2010/main" val="562768628"/>
      </p:ext>
    </p:extLst>
  </p:cSld>
</p:sld>
</file>

<file path=ppt/slides/slide3.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521417E-9DB9-47C0-89F9-F2FC00FFEA73}"/>
              </a:ext>
            </a:extLst>
          </p:cNvPr>
          <p:cNvSpPr>
            <a:spLocks xmlns:a="http://schemas.openxmlformats.org/drawingml/2006/main" noGrp="1"/>
          </p:cNvSpPr>
          <p:nvPr/>
        </p:nvSpPr>
        <p:spPr>
          <a:xfrm xmlns:a="http://schemas.openxmlformats.org/drawingml/2006/main">
            <a:off x="685800" y="4953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B"/>
                </a:solidFill>
                <a:latin typeface="Arial"/>
                <a:ea typeface="Arial"/>
                <a:cs typeface="Arial"/>
              </a:defRPr>
            </a:defPPr>
          </a:lstStyle>
          <a:p xmlns:a="http://schemas.openxmlformats.org/drawingml/2006/main">
            <a:pPr algn="l">
              <a:defRPr sz="3300" b="1">
                <a:solidFill>
                  <a:srgbClr val="142D3B"/>
                </a:solidFill>
                <a:latin typeface="Arial"/>
                <a:ea typeface="Arial"/>
                <a:cs typeface="Arial"/>
              </a:defRPr>
            </a:pPr>
            <a:r>
              <a:rPr sz="3300" b="1">
                <a:solidFill>
                  <a:srgbClr val="142D3B"/>
                </a:solidFill>
                <a:latin typeface="Arial"/>
                <a:ea typeface="Arial"/>
                <a:cs typeface="Arial"/>
              </a:rPr>
              <a:t>Access and business management</a:t>
            </a:r>
          </a:p>
        </p:txBody>
      </p:sp>
      <p:sp>
        <p:nvSpPr>
          <p:cNvPr id="2" name="slide-number">
            <a:extLst xmlns:a="http://schemas.openxmlformats.org/drawingml/2006/main">
              <a:ext uri="{FF2B5EF4-FFF2-40B4-BE49-F238E27FC236}">
                <a16:creationId xmlns:a16="http://schemas.microsoft.com/office/drawing/2014/main" id="{C0516871-0727-4F09-8AF0-4927CE743A8A}"/>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575"/>
                </a:solidFill>
                <a:latin typeface="Arial"/>
                <a:ea typeface="Arial"/>
                <a:cs typeface="Arial"/>
              </a:defRPr>
            </a:defPPr>
          </a:lstStyle>
          <a:p xmlns:a="http://schemas.openxmlformats.org/drawingml/2006/main">
            <a:pPr algn="r">
              <a:defRPr sz="1500" b="0">
                <a:solidFill>
                  <a:srgbClr val="526575"/>
                </a:solidFill>
                <a:latin typeface="Arial"/>
                <a:ea typeface="Arial"/>
                <a:cs typeface="Arial"/>
              </a:defRPr>
            </a:pPr>
            <a:r>
              <a:rPr sz="1500" b="0">
                <a:solidFill>
                  <a:srgbClr val="526575"/>
                </a:solidFill>
                <a:latin typeface="Arial"/>
                <a:ea typeface="Arial"/>
                <a:cs typeface="Arial"/>
              </a:rPr>
              <a:t>03</a:t>
            </a:r>
          </a:p>
        </p:txBody>
      </p:sp>
      <p:sp>
        <p:nvSpPr>
          <p:cNvPr id="3" name="authentication-heading">
            <a:extLst xmlns:a="http://schemas.openxmlformats.org/drawingml/2006/main">
              <a:ext uri="{FF2B5EF4-FFF2-40B4-BE49-F238E27FC236}">
                <a16:creationId xmlns:a16="http://schemas.microsoft.com/office/drawing/2014/main" id="{0DF60F61-46AB-4FC7-B6D5-04BF276C94C6}"/>
              </a:ext>
            </a:extLst>
          </p:cNvPr>
          <p:cNvSpPr>
            <a:spLocks xmlns:a="http://schemas.openxmlformats.org/drawingml/2006/main" noGrp="1"/>
          </p:cNvSpPr>
          <p:nvPr/>
        </p:nvSpPr>
        <p:spPr>
          <a:xfrm xmlns:a="http://schemas.openxmlformats.org/drawingml/2006/main">
            <a:off x="685800" y="1533525"/>
            <a:ext cx="6048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Secure sign-in</a:t>
            </a:r>
          </a:p>
        </p:txBody>
      </p:sp>
      <p:sp>
        <p:nvSpPr>
          <p:cNvPr id="4" name="authentication-body">
            <a:extLst xmlns:a="http://schemas.openxmlformats.org/drawingml/2006/main">
              <a:ext uri="{FF2B5EF4-FFF2-40B4-BE49-F238E27FC236}">
                <a16:creationId xmlns:a16="http://schemas.microsoft.com/office/drawing/2014/main" id="{C5C20360-5E07-44B0-881F-A7A7F3B99C51}"/>
              </a:ext>
            </a:extLst>
          </p:cNvPr>
          <p:cNvSpPr>
            <a:spLocks xmlns:a="http://schemas.openxmlformats.org/drawingml/2006/main" noGrp="1"/>
          </p:cNvSpPr>
          <p:nvPr/>
        </p:nvSpPr>
        <p:spPr>
          <a:xfrm xmlns:a="http://schemas.openxmlformats.org/drawingml/2006/main">
            <a:off x="685800" y="2000250"/>
            <a:ext cx="604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Email/password accounts and optional Google OAuth.</a:t>
            </a:r>
          </a:p>
        </p:txBody>
      </p:sp>
      <p:sp>
        <p:nvSpPr>
          <p:cNvPr id="5" name="profiles-heading">
            <a:extLst xmlns:a="http://schemas.openxmlformats.org/drawingml/2006/main">
              <a:ext uri="{FF2B5EF4-FFF2-40B4-BE49-F238E27FC236}">
                <a16:creationId xmlns:a16="http://schemas.microsoft.com/office/drawing/2014/main" id="{EED4B973-601D-4A1C-92CD-60393B10FAF8}"/>
              </a:ext>
            </a:extLst>
          </p:cNvPr>
          <p:cNvSpPr>
            <a:spLocks xmlns:a="http://schemas.openxmlformats.org/drawingml/2006/main" noGrp="1"/>
          </p:cNvSpPr>
          <p:nvPr/>
        </p:nvSpPr>
        <p:spPr>
          <a:xfrm xmlns:a="http://schemas.openxmlformats.org/drawingml/2006/main">
            <a:off x="685800" y="3028950"/>
            <a:ext cx="6048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Separate business workspaces</a:t>
            </a:r>
          </a:p>
        </p:txBody>
      </p:sp>
      <p:sp>
        <p:nvSpPr>
          <p:cNvPr id="6" name="profiles-body">
            <a:extLst xmlns:a="http://schemas.openxmlformats.org/drawingml/2006/main">
              <a:ext uri="{FF2B5EF4-FFF2-40B4-BE49-F238E27FC236}">
                <a16:creationId xmlns:a16="http://schemas.microsoft.com/office/drawing/2014/main" id="{D0E42E21-FD9B-453C-92D0-F6A5CD777397}"/>
              </a:ext>
            </a:extLst>
          </p:cNvPr>
          <p:cNvSpPr>
            <a:spLocks xmlns:a="http://schemas.openxmlformats.org/drawingml/2006/main" noGrp="1"/>
          </p:cNvSpPr>
          <p:nvPr/>
        </p:nvSpPr>
        <p:spPr>
          <a:xfrm xmlns:a="http://schemas.openxmlformats.org/drawingml/2006/main">
            <a:off x="685800" y="3495675"/>
            <a:ext cx="604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Owners manage multiple businesses. Currency and timezone lock after financial data is saved.</a:t>
            </a:r>
          </a:p>
        </p:txBody>
      </p:sp>
      <p:sp>
        <p:nvSpPr>
          <p:cNvPr id="7" name="administration-heading">
            <a:extLst xmlns:a="http://schemas.openxmlformats.org/drawingml/2006/main">
              <a:ext uri="{FF2B5EF4-FFF2-40B4-BE49-F238E27FC236}">
                <a16:creationId xmlns:a16="http://schemas.microsoft.com/office/drawing/2014/main" id="{82B9399D-BC2F-4359-98E7-8E47DD6EAEC2}"/>
              </a:ext>
            </a:extLst>
          </p:cNvPr>
          <p:cNvSpPr>
            <a:spLocks xmlns:a="http://schemas.openxmlformats.org/drawingml/2006/main" noGrp="1"/>
          </p:cNvSpPr>
          <p:nvPr/>
        </p:nvSpPr>
        <p:spPr>
          <a:xfrm xmlns:a="http://schemas.openxmlformats.org/drawingml/2006/main">
            <a:off x="685800" y="4667250"/>
            <a:ext cx="6048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Limited administrator access</a:t>
            </a:r>
          </a:p>
        </p:txBody>
      </p:sp>
      <p:sp>
        <p:nvSpPr>
          <p:cNvPr id="8" name="administration-body">
            <a:extLst xmlns:a="http://schemas.openxmlformats.org/drawingml/2006/main">
              <a:ext uri="{FF2B5EF4-FFF2-40B4-BE49-F238E27FC236}">
                <a16:creationId xmlns:a16="http://schemas.microsoft.com/office/drawing/2014/main" id="{B7EB1EA7-F6EB-4E78-B0D6-7F1B10CE1DE8}"/>
              </a:ext>
            </a:extLst>
          </p:cNvPr>
          <p:cNvSpPr>
            <a:spLocks xmlns:a="http://schemas.openxmlformats.org/drawingml/2006/main" noGrp="1"/>
          </p:cNvSpPr>
          <p:nvPr/>
        </p:nvSpPr>
        <p:spPr>
          <a:xfrm xmlns:a="http://schemas.openxmlformats.org/drawingml/2006/main">
            <a:off x="685800" y="5133975"/>
            <a:ext cx="6048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Administrators manage account status and basic metadata. Private business records remain owner-only.</a:t>
            </a:r>
          </a:p>
        </p:txBody>
      </p:sp>
      <p:pic>
        <p:nvPicPr>
          <p:cNvPr id="9" name="">
            <a:extLst xmlns:a="http://schemas.openxmlformats.org/drawingml/2006/main">
              <a:ext uri="{FF2B5EF4-FFF2-40B4-BE49-F238E27FC236}">
                <a16:creationId xmlns:a16="http://schemas.microsoft.com/office/drawing/2014/main" id="{9BD62CCA-4205-412A-BE0A-606C95AEC10E}"/>
              </a:ext>
            </a:extLst>
          </p:cNvPr>
          <p:cNvPicPr>
            <a:picLocks xmlns:a="http://schemas.openxmlformats.org/drawingml/2006/main" noChangeAspect="1"/>
          </p:cNvPicPr>
          <p:nvPr/>
        </p:nvPicPr>
        <p:blipFill>
          <a:blip xmlns:r="http://schemas.openxmlformats.org/officeDocument/2006/relationships" xmlns:a="http://schemas.openxmlformats.org/drawingml/2006/main" r:embed="R517e72650e8f4a1f"/>
          <a:stretch xmlns:a="http://schemas.openxmlformats.org/drawingml/2006/main"/>
        </p:blipFill>
        <p:spPr>
          <a:xfrm xmlns:a="http://schemas.openxmlformats.org/drawingml/2006/main">
            <a:off x="7639050" y="1450064"/>
            <a:ext cx="3362325" cy="4405546"/>
          </a:xfrm>
          <a:prstGeom xmlns:a="http://schemas.openxmlformats.org/drawingml/2006/main" prst="rect">
            <a:avLst/>
          </a:prstGeom>
        </p:spPr>
      </p:pic>
    </p:spTree>
    <p:extLst>
      <p:ext uri="{BB962C8B-B14F-4D97-AF65-F5344CB8AC3E}">
        <p14:creationId xmlns:p14="http://schemas.microsoft.com/office/powerpoint/2010/main" val="1774664271"/>
      </p:ext>
    </p:extLst>
  </p:cSld>
</p:sld>
</file>

<file path=ppt/slides/slide4.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D520FAC0-B017-4310-BF86-C8FD1B38E0F5}"/>
              </a:ext>
            </a:extLst>
          </p:cNvPr>
          <p:cNvSpPr>
            <a:spLocks xmlns:a="http://schemas.openxmlformats.org/drawingml/2006/main" noGrp="1"/>
          </p:cNvSpPr>
          <p:nvPr/>
        </p:nvSpPr>
        <p:spPr>
          <a:xfrm xmlns:a="http://schemas.openxmlformats.org/drawingml/2006/main">
            <a:off x="685800" y="4953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B"/>
                </a:solidFill>
                <a:latin typeface="Arial"/>
                <a:ea typeface="Arial"/>
                <a:cs typeface="Arial"/>
              </a:defRPr>
            </a:defPPr>
          </a:lstStyle>
          <a:p xmlns:a="http://schemas.openxmlformats.org/drawingml/2006/main">
            <a:pPr algn="l">
              <a:defRPr sz="3300" b="1">
                <a:solidFill>
                  <a:srgbClr val="142D3B"/>
                </a:solidFill>
                <a:latin typeface="Arial"/>
                <a:ea typeface="Arial"/>
                <a:cs typeface="Arial"/>
              </a:defRPr>
            </a:pPr>
            <a:r>
              <a:rPr sz="3300" b="1">
                <a:solidFill>
                  <a:srgbClr val="142D3B"/>
                </a:solidFill>
                <a:latin typeface="Arial"/>
                <a:ea typeface="Arial"/>
                <a:cs typeface="Arial"/>
              </a:rPr>
              <a:t>Data entry and file imports</a:t>
            </a:r>
          </a:p>
        </p:txBody>
      </p:sp>
      <p:sp>
        <p:nvSpPr>
          <p:cNvPr id="2" name="slide-number">
            <a:extLst xmlns:a="http://schemas.openxmlformats.org/drawingml/2006/main">
              <a:ext uri="{FF2B5EF4-FFF2-40B4-BE49-F238E27FC236}">
                <a16:creationId xmlns:a16="http://schemas.microsoft.com/office/drawing/2014/main" id="{8AF5A887-BA66-49FC-884C-4DFA2457FEC5}"/>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575"/>
                </a:solidFill>
                <a:latin typeface="Arial"/>
                <a:ea typeface="Arial"/>
                <a:cs typeface="Arial"/>
              </a:defRPr>
            </a:defPPr>
          </a:lstStyle>
          <a:p xmlns:a="http://schemas.openxmlformats.org/drawingml/2006/main">
            <a:pPr algn="r">
              <a:defRPr sz="1500" b="0">
                <a:solidFill>
                  <a:srgbClr val="526575"/>
                </a:solidFill>
                <a:latin typeface="Arial"/>
                <a:ea typeface="Arial"/>
                <a:cs typeface="Arial"/>
              </a:defRPr>
            </a:pPr>
            <a:r>
              <a:rPr sz="1500" b="0">
                <a:solidFill>
                  <a:srgbClr val="526575"/>
                </a:solidFill>
                <a:latin typeface="Arial"/>
                <a:ea typeface="Arial"/>
                <a:cs typeface="Arial"/>
              </a:rPr>
              <a:t>04</a:t>
            </a:r>
          </a:p>
        </p:txBody>
      </p:sp>
      <p:sp>
        <p:nvSpPr>
          <p:cNvPr id="3" name="records-heading">
            <a:extLst xmlns:a="http://schemas.openxmlformats.org/drawingml/2006/main">
              <a:ext uri="{FF2B5EF4-FFF2-40B4-BE49-F238E27FC236}">
                <a16:creationId xmlns:a16="http://schemas.microsoft.com/office/drawing/2014/main" id="{8D105E36-86C2-4790-A5BB-F4F5CBA3C25E}"/>
              </a:ext>
            </a:extLst>
          </p:cNvPr>
          <p:cNvSpPr>
            <a:spLocks xmlns:a="http://schemas.openxmlformats.org/drawingml/2006/main" noGrp="1"/>
          </p:cNvSpPr>
          <p:nvPr/>
        </p:nvSpPr>
        <p:spPr>
          <a:xfrm xmlns:a="http://schemas.openxmlformats.org/drawingml/2006/main">
            <a:off x="685800" y="1562100"/>
            <a:ext cx="4933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Operational records</a:t>
            </a:r>
          </a:p>
        </p:txBody>
      </p:sp>
      <p:sp>
        <p:nvSpPr>
          <p:cNvPr id="4" name="records-body">
            <a:extLst xmlns:a="http://schemas.openxmlformats.org/drawingml/2006/main">
              <a:ext uri="{FF2B5EF4-FFF2-40B4-BE49-F238E27FC236}">
                <a16:creationId xmlns:a16="http://schemas.microsoft.com/office/drawing/2014/main" id="{415F1A51-FEE9-455E-BDBB-6A961BBEE11C}"/>
              </a:ext>
            </a:extLst>
          </p:cNvPr>
          <p:cNvSpPr>
            <a:spLocks xmlns:a="http://schemas.openxmlformats.org/drawingml/2006/main" noGrp="1"/>
          </p:cNvSpPr>
          <p:nvPr/>
        </p:nvSpPr>
        <p:spPr>
          <a:xfrm xmlns:a="http://schemas.openxmlformats.org/drawingml/2006/main">
            <a:off x="685800" y="2028825"/>
            <a:ext cx="4933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Products and services, sales, expenses, daily visits and customer feedback.</a:t>
            </a:r>
          </a:p>
        </p:txBody>
      </p:sp>
      <p:sp>
        <p:nvSpPr>
          <p:cNvPr id="5" name="import-process-heading">
            <a:extLst xmlns:a="http://schemas.openxmlformats.org/drawingml/2006/main">
              <a:ext uri="{FF2B5EF4-FFF2-40B4-BE49-F238E27FC236}">
                <a16:creationId xmlns:a16="http://schemas.microsoft.com/office/drawing/2014/main" id="{7379FB22-8704-4C42-85C9-FC120807393D}"/>
              </a:ext>
            </a:extLst>
          </p:cNvPr>
          <p:cNvSpPr>
            <a:spLocks xmlns:a="http://schemas.openxmlformats.org/drawingml/2006/main" noGrp="1"/>
          </p:cNvSpPr>
          <p:nvPr/>
        </p:nvSpPr>
        <p:spPr>
          <a:xfrm xmlns:a="http://schemas.openxmlformats.org/drawingml/2006/main">
            <a:off x="685800" y="3143250"/>
            <a:ext cx="4933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Review before saving</a:t>
            </a:r>
          </a:p>
        </p:txBody>
      </p:sp>
      <p:sp>
        <p:nvSpPr>
          <p:cNvPr id="6" name="import-process-body">
            <a:extLst xmlns:a="http://schemas.openxmlformats.org/drawingml/2006/main">
              <a:ext uri="{FF2B5EF4-FFF2-40B4-BE49-F238E27FC236}">
                <a16:creationId xmlns:a16="http://schemas.microsoft.com/office/drawing/2014/main" id="{CD9EC8A8-3284-439D-9B07-F2DAE3CE7984}"/>
              </a:ext>
            </a:extLst>
          </p:cNvPr>
          <p:cNvSpPr>
            <a:spLocks xmlns:a="http://schemas.openxmlformats.org/drawingml/2006/main" noGrp="1"/>
          </p:cNvSpPr>
          <p:nvPr/>
        </p:nvSpPr>
        <p:spPr>
          <a:xfrm xmlns:a="http://schemas.openxmlformats.org/drawingml/2006/main">
            <a:off x="685800" y="3609975"/>
            <a:ext cx="49339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CSV and Excel templates support row validation, warnings and explicit confirmation.</a:t>
            </a:r>
          </a:p>
        </p:txBody>
      </p:sp>
      <p:sp>
        <p:nvSpPr>
          <p:cNvPr id="7" name="limits">
            <a:extLst xmlns:a="http://schemas.openxmlformats.org/drawingml/2006/main">
              <a:ext uri="{FF2B5EF4-FFF2-40B4-BE49-F238E27FC236}">
                <a16:creationId xmlns:a16="http://schemas.microsoft.com/office/drawing/2014/main" id="{1348F587-C2A4-4E0A-BD6F-6BEC612A7C29}"/>
              </a:ext>
            </a:extLst>
          </p:cNvPr>
          <p:cNvSpPr>
            <a:spLocks xmlns:a="http://schemas.openxmlformats.org/drawingml/2006/main" noGrp="1"/>
          </p:cNvSpPr>
          <p:nvPr/>
        </p:nvSpPr>
        <p:spPr>
          <a:xfrm xmlns:a="http://schemas.openxmlformats.org/drawingml/2006/main">
            <a:off x="685800" y="4991100"/>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F8C"/>
                </a:solidFill>
                <a:latin typeface="Arial"/>
                <a:ea typeface="Arial"/>
                <a:cs typeface="Arial"/>
              </a:defRPr>
            </a:defPPr>
          </a:lstStyle>
          <a:p xmlns:a="http://schemas.openxmlformats.org/drawingml/2006/main">
            <a:pPr algn="l">
              <a:defRPr sz="1875" b="1">
                <a:solidFill>
                  <a:srgbClr val="087F8C"/>
                </a:solidFill>
                <a:latin typeface="Arial"/>
                <a:ea typeface="Arial"/>
                <a:cs typeface="Arial"/>
              </a:defRPr>
            </a:pPr>
            <a:r>
              <a:rPr sz="1875" b="1">
                <a:solidFill>
                  <a:srgbClr val="087F8C"/>
                </a:solidFill>
                <a:latin typeface="Arial"/>
                <a:ea typeface="Arial"/>
                <a:cs typeface="Arial"/>
              </a:rPr>
              <a:t>Up to 1,000 rows per file</a:t>
            </a:r>
          </a:p>
          <a:p xmlns:a="http://schemas.openxmlformats.org/drawingml/2006/main">
            <a:pPr algn="l">
              <a:defRPr sz="1875" b="1">
                <a:solidFill>
                  <a:srgbClr val="087F8C"/>
                </a:solidFill>
                <a:latin typeface="Arial"/>
                <a:ea typeface="Arial"/>
                <a:cs typeface="Arial"/>
              </a:defRPr>
            </a:pPr>
            <a:r>
              <a:rPr sz="1875" b="1">
                <a:solidFill>
                  <a:srgbClr val="087F8C"/>
                </a:solidFill>
                <a:latin typeface="Arial"/>
                <a:ea typeface="Arial"/>
                <a:cs typeface="Arial"/>
              </a:rPr>
              <a:t>Maximum file size: 2 MiB</a:t>
            </a:r>
          </a:p>
        </p:txBody>
      </p:sp>
      <p:pic>
        <p:nvPicPr>
          <p:cNvPr id="8" name="">
            <a:extLst xmlns:a="http://schemas.openxmlformats.org/drawingml/2006/main">
              <a:ext uri="{FF2B5EF4-FFF2-40B4-BE49-F238E27FC236}">
                <a16:creationId xmlns:a16="http://schemas.microsoft.com/office/drawing/2014/main" id="{53B9BF0A-DA47-454C-8823-FEF9ABF2BB1D}"/>
              </a:ext>
            </a:extLst>
          </p:cNvPr>
          <p:cNvPicPr>
            <a:picLocks xmlns:a="http://schemas.openxmlformats.org/drawingml/2006/main" noChangeAspect="1"/>
          </p:cNvPicPr>
          <p:nvPr/>
        </p:nvPicPr>
        <p:blipFill>
          <a:blip xmlns:r="http://schemas.openxmlformats.org/officeDocument/2006/relationships" xmlns:a="http://schemas.openxmlformats.org/drawingml/2006/main" r:embed="Rc0e991b4f96e427b"/>
          <a:srcRect xmlns:a="http://schemas.openxmlformats.org/drawingml/2006/main" l="0" t="0" r="0" b="61900"/>
          <a:stretch xmlns:a="http://schemas.openxmlformats.org/drawingml/2006/main"/>
        </p:blipFill>
        <p:spPr>
          <a:xfrm xmlns:a="http://schemas.openxmlformats.org/drawingml/2006/main">
            <a:off x="6057900" y="1552575"/>
            <a:ext cx="5448300" cy="3486150"/>
          </a:xfrm>
          <a:prstGeom xmlns:a="http://schemas.openxmlformats.org/drawingml/2006/main" prst="rect">
            <a:avLst/>
          </a:prstGeom>
        </p:spPr>
      </p:pic>
      <p:sp>
        <p:nvSpPr>
          <p:cNvPr id="9" name="import-caption">
            <a:extLst xmlns:a="http://schemas.openxmlformats.org/drawingml/2006/main">
              <a:ext uri="{FF2B5EF4-FFF2-40B4-BE49-F238E27FC236}">
                <a16:creationId xmlns:a16="http://schemas.microsoft.com/office/drawing/2014/main" id="{ED9D946D-5DD5-495C-826A-5B0FFDFC970E}"/>
              </a:ext>
            </a:extLst>
          </p:cNvPr>
          <p:cNvSpPr>
            <a:spLocks xmlns:a="http://schemas.openxmlformats.org/drawingml/2006/main" noGrp="1"/>
          </p:cNvSpPr>
          <p:nvPr/>
        </p:nvSpPr>
        <p:spPr>
          <a:xfrm xmlns:a="http://schemas.openxmlformats.org/drawingml/2006/main">
            <a:off x="6057900" y="5334000"/>
            <a:ext cx="5448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5"/>
                </a:solidFill>
                <a:latin typeface="Arial"/>
                <a:ea typeface="Arial"/>
                <a:cs typeface="Arial"/>
              </a:defRPr>
            </a:defPPr>
          </a:lstStyle>
          <a:p xmlns:a="http://schemas.openxmlformats.org/drawingml/2006/main">
            <a:pPr algn="l">
              <a:defRPr sz="1500" b="0">
                <a:solidFill>
                  <a:srgbClr val="526575"/>
                </a:solidFill>
                <a:latin typeface="Arial"/>
                <a:ea typeface="Arial"/>
                <a:cs typeface="Arial"/>
              </a:defRPr>
            </a:pPr>
            <a:r>
              <a:rPr sz="1500" b="0">
                <a:solidFill>
                  <a:srgbClr val="526575"/>
                </a:solidFill>
                <a:latin typeface="Arial"/>
                <a:ea typeface="Arial"/>
                <a:cs typeface="Arial"/>
              </a:rPr>
              <a:t>Synthetic demonstration data</a:t>
            </a:r>
          </a:p>
        </p:txBody>
      </p:sp>
    </p:spTree>
    <p:extLst>
      <p:ext uri="{BB962C8B-B14F-4D97-AF65-F5344CB8AC3E}">
        <p14:creationId xmlns:p14="http://schemas.microsoft.com/office/powerpoint/2010/main" val="1053754604"/>
      </p:ext>
    </p:extLst>
  </p:cSld>
</p:sld>
</file>

<file path=ppt/slides/slide5.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FF169DC-65E1-4011-B81B-8A442463E0B2}"/>
              </a:ext>
            </a:extLst>
          </p:cNvPr>
          <p:cNvSpPr>
            <a:spLocks xmlns:a="http://schemas.openxmlformats.org/drawingml/2006/main" noGrp="1"/>
          </p:cNvSpPr>
          <p:nvPr/>
        </p:nvSpPr>
        <p:spPr>
          <a:xfrm xmlns:a="http://schemas.openxmlformats.org/drawingml/2006/main">
            <a:off x="685800" y="4953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B"/>
                </a:solidFill>
                <a:latin typeface="Arial"/>
                <a:ea typeface="Arial"/>
                <a:cs typeface="Arial"/>
              </a:defRPr>
            </a:defPPr>
          </a:lstStyle>
          <a:p xmlns:a="http://schemas.openxmlformats.org/drawingml/2006/main">
            <a:pPr algn="l">
              <a:defRPr sz="3300" b="1">
                <a:solidFill>
                  <a:srgbClr val="142D3B"/>
                </a:solidFill>
                <a:latin typeface="Arial"/>
                <a:ea typeface="Arial"/>
                <a:cs typeface="Arial"/>
              </a:defRPr>
            </a:pPr>
            <a:r>
              <a:rPr sz="3300" b="1">
                <a:solidFill>
                  <a:srgbClr val="142D3B"/>
                </a:solidFill>
                <a:latin typeface="Arial"/>
                <a:ea typeface="Arial"/>
                <a:cs typeface="Arial"/>
              </a:rPr>
              <a:t>Dashboard and financial metrics</a:t>
            </a:r>
          </a:p>
        </p:txBody>
      </p:sp>
      <p:sp>
        <p:nvSpPr>
          <p:cNvPr id="2" name="slide-number">
            <a:extLst xmlns:a="http://schemas.openxmlformats.org/drawingml/2006/main">
              <a:ext uri="{FF2B5EF4-FFF2-40B4-BE49-F238E27FC236}">
                <a16:creationId xmlns:a16="http://schemas.microsoft.com/office/drawing/2014/main" id="{EADD7975-92F2-4E58-B5DD-C7AE509192D5}"/>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575"/>
                </a:solidFill>
                <a:latin typeface="Arial"/>
                <a:ea typeface="Arial"/>
                <a:cs typeface="Arial"/>
              </a:defRPr>
            </a:defPPr>
          </a:lstStyle>
          <a:p xmlns:a="http://schemas.openxmlformats.org/drawingml/2006/main">
            <a:pPr algn="r">
              <a:defRPr sz="1500" b="0">
                <a:solidFill>
                  <a:srgbClr val="526575"/>
                </a:solidFill>
                <a:latin typeface="Arial"/>
                <a:ea typeface="Arial"/>
                <a:cs typeface="Arial"/>
              </a:defRPr>
            </a:pPr>
            <a:r>
              <a:rPr sz="1500" b="0">
                <a:solidFill>
                  <a:srgbClr val="526575"/>
                </a:solidFill>
                <a:latin typeface="Arial"/>
                <a:ea typeface="Arial"/>
                <a:cs typeface="Arial"/>
              </a:rPr>
              <a:t>05</a:t>
            </a:r>
          </a:p>
        </p:txBody>
      </p:sp>
      <p:sp>
        <p:nvSpPr>
          <p:cNvPr id="3" name="metrics-summary">
            <a:extLst xmlns:a="http://schemas.openxmlformats.org/drawingml/2006/main">
              <a:ext uri="{FF2B5EF4-FFF2-40B4-BE49-F238E27FC236}">
                <a16:creationId xmlns:a16="http://schemas.microsoft.com/office/drawing/2014/main" id="{2A918332-23B9-4696-9F48-2F951DBA78D0}"/>
              </a:ext>
            </a:extLst>
          </p:cNvPr>
          <p:cNvSpPr>
            <a:spLocks xmlns:a="http://schemas.openxmlformats.org/drawingml/2006/main" noGrp="1"/>
          </p:cNvSpPr>
          <p:nvPr/>
        </p:nvSpPr>
        <p:spPr>
          <a:xfrm xmlns:a="http://schemas.openxmlformats.org/drawingml/2006/main">
            <a:off x="685800" y="1657350"/>
            <a:ext cx="28003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D3B"/>
                </a:solidFill>
                <a:latin typeface="Arial"/>
                <a:ea typeface="Arial"/>
                <a:cs typeface="Arial"/>
              </a:defRPr>
            </a:defPPr>
          </a:lstStyle>
          <a:p xmlns:a="http://schemas.openxmlformats.org/drawingml/2006/main">
            <a:pPr algn="l">
              <a:defRPr sz="2100" b="0">
                <a:solidFill>
                  <a:srgbClr val="142D3B"/>
                </a:solidFill>
                <a:latin typeface="Arial"/>
                <a:ea typeface="Arial"/>
                <a:cs typeface="Arial"/>
              </a:defRPr>
            </a:pPr>
            <a:r>
              <a:rPr sz="2100" b="0">
                <a:solidFill>
                  <a:srgbClr val="142D3B"/>
                </a:solidFill>
                <a:latin typeface="Arial"/>
                <a:ea typeface="Arial"/>
                <a:cs typeface="Arial"/>
              </a:rPr>
              <a:t>Revenue, spending, estimated profit, visits and sales trends.</a:t>
            </a:r>
          </a:p>
        </p:txBody>
      </p:sp>
      <p:sp>
        <p:nvSpPr>
          <p:cNvPr id="4" name="period-comparison">
            <a:extLst xmlns:a="http://schemas.openxmlformats.org/drawingml/2006/main">
              <a:ext uri="{FF2B5EF4-FFF2-40B4-BE49-F238E27FC236}">
                <a16:creationId xmlns:a16="http://schemas.microsoft.com/office/drawing/2014/main" id="{D051C1E3-6AEB-4407-873E-9973C6295050}"/>
              </a:ext>
            </a:extLst>
          </p:cNvPr>
          <p:cNvSpPr>
            <a:spLocks xmlns:a="http://schemas.openxmlformats.org/drawingml/2006/main" noGrp="1"/>
          </p:cNvSpPr>
          <p:nvPr/>
        </p:nvSpPr>
        <p:spPr>
          <a:xfrm xmlns:a="http://schemas.openxmlformats.org/drawingml/2006/main">
            <a:off x="685800" y="3467100"/>
            <a:ext cx="2800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575"/>
                </a:solidFill>
                <a:latin typeface="Arial"/>
                <a:ea typeface="Arial"/>
                <a:cs typeface="Arial"/>
              </a:defRPr>
            </a:defPPr>
          </a:lstStyle>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Date filters compare equal reporting periods.</a:t>
            </a:r>
          </a:p>
        </p:txBody>
      </p:sp>
      <p:pic>
        <p:nvPicPr>
          <p:cNvPr id="5" name="">
            <a:extLst xmlns:a="http://schemas.openxmlformats.org/drawingml/2006/main">
              <a:ext uri="{FF2B5EF4-FFF2-40B4-BE49-F238E27FC236}">
                <a16:creationId xmlns:a16="http://schemas.microsoft.com/office/drawing/2014/main" id="{04239EB3-7042-4625-A6A9-27EB1721EE71}"/>
              </a:ext>
            </a:extLst>
          </p:cNvPr>
          <p:cNvPicPr>
            <a:picLocks xmlns:a="http://schemas.openxmlformats.org/drawingml/2006/main" noChangeAspect="1"/>
          </p:cNvPicPr>
          <p:nvPr/>
        </p:nvPicPr>
        <p:blipFill>
          <a:blip xmlns:r="http://schemas.openxmlformats.org/officeDocument/2006/relationships" xmlns:a="http://schemas.openxmlformats.org/drawingml/2006/main" r:embed="Re150bea928684794"/>
          <a:srcRect xmlns:a="http://schemas.openxmlformats.org/drawingml/2006/main" l="0" t="0" r="0" b="51400"/>
          <a:stretch xmlns:a="http://schemas.openxmlformats.org/drawingml/2006/main"/>
        </p:blipFill>
        <p:spPr>
          <a:xfrm xmlns:a="http://schemas.openxmlformats.org/drawingml/2006/main">
            <a:off x="3857625" y="1619250"/>
            <a:ext cx="7648575" cy="2800350"/>
          </a:xfrm>
          <a:prstGeom xmlns:a="http://schemas.openxmlformats.org/drawingml/2006/main" prst="rect">
            <a:avLst/>
          </a:prstGeom>
        </p:spPr>
      </p:pic>
      <p:sp>
        <p:nvSpPr>
          <p:cNvPr id="6" name="metrics-caption">
            <a:extLst xmlns:a="http://schemas.openxmlformats.org/drawingml/2006/main">
              <a:ext uri="{FF2B5EF4-FFF2-40B4-BE49-F238E27FC236}">
                <a16:creationId xmlns:a16="http://schemas.microsoft.com/office/drawing/2014/main" id="{4C18892A-6BB0-4AE9-A954-3B43F18684EA}"/>
              </a:ext>
            </a:extLst>
          </p:cNvPr>
          <p:cNvSpPr>
            <a:spLocks xmlns:a="http://schemas.openxmlformats.org/drawingml/2006/main" noGrp="1"/>
          </p:cNvSpPr>
          <p:nvPr/>
        </p:nvSpPr>
        <p:spPr>
          <a:xfrm xmlns:a="http://schemas.openxmlformats.org/drawingml/2006/main">
            <a:off x="3857625" y="4552950"/>
            <a:ext cx="7648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5"/>
                </a:solidFill>
                <a:latin typeface="Arial"/>
                <a:ea typeface="Arial"/>
                <a:cs typeface="Arial"/>
              </a:defRPr>
            </a:defPPr>
          </a:lstStyle>
          <a:p xmlns:a="http://schemas.openxmlformats.org/drawingml/2006/main">
            <a:pPr algn="l">
              <a:defRPr sz="1500" b="0">
                <a:solidFill>
                  <a:srgbClr val="526575"/>
                </a:solidFill>
                <a:latin typeface="Arial"/>
                <a:ea typeface="Arial"/>
                <a:cs typeface="Arial"/>
              </a:defRPr>
            </a:pPr>
            <a:r>
              <a:rPr sz="1500" b="0">
                <a:solidFill>
                  <a:srgbClr val="526575"/>
                </a:solidFill>
                <a:latin typeface="Arial"/>
                <a:ea typeface="Arial"/>
                <a:cs typeface="Arial"/>
              </a:rPr>
              <a:t>Demo cafe, 18 July–15 October 2026</a:t>
            </a:r>
          </a:p>
        </p:txBody>
      </p:sp>
      <p:sp>
        <p:nvSpPr>
          <p:cNvPr id="7" name="profit-label">
            <a:extLst xmlns:a="http://schemas.openxmlformats.org/drawingml/2006/main">
              <a:ext uri="{FF2B5EF4-FFF2-40B4-BE49-F238E27FC236}">
                <a16:creationId xmlns:a16="http://schemas.microsoft.com/office/drawing/2014/main" id="{28BED56B-2E8E-4575-8DD9-12154EC3E173}"/>
              </a:ext>
            </a:extLst>
          </p:cNvPr>
          <p:cNvSpPr>
            <a:spLocks xmlns:a="http://schemas.openxmlformats.org/drawingml/2006/main" noGrp="1"/>
          </p:cNvSpPr>
          <p:nvPr/>
        </p:nvSpPr>
        <p:spPr>
          <a:xfrm xmlns:a="http://schemas.openxmlformats.org/drawingml/2006/main">
            <a:off x="685800" y="51625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C"/>
                </a:solidFill>
                <a:latin typeface="Arial"/>
                <a:ea typeface="Arial"/>
                <a:cs typeface="Arial"/>
              </a:defRPr>
            </a:defPPr>
          </a:lstStyle>
          <a:p xmlns:a="http://schemas.openxmlformats.org/drawingml/2006/main">
            <a:pPr algn="l">
              <a:defRPr sz="2025" b="1">
                <a:solidFill>
                  <a:srgbClr val="087F8C"/>
                </a:solidFill>
                <a:latin typeface="Arial"/>
                <a:ea typeface="Arial"/>
                <a:cs typeface="Arial"/>
              </a:defRPr>
            </a:pPr>
            <a:r>
              <a:rPr sz="2025" b="1">
                <a:solidFill>
                  <a:srgbClr val="087F8C"/>
                </a:solidFill>
                <a:latin typeface="Arial"/>
                <a:ea typeface="Arial"/>
                <a:cs typeface="Arial"/>
              </a:rPr>
              <a:t>Estimated profit</a:t>
            </a:r>
          </a:p>
        </p:txBody>
      </p:sp>
      <p:sp>
        <p:nvSpPr>
          <p:cNvPr id="8" name="profit-formula">
            <a:extLst xmlns:a="http://schemas.openxmlformats.org/drawingml/2006/main">
              <a:ext uri="{FF2B5EF4-FFF2-40B4-BE49-F238E27FC236}">
                <a16:creationId xmlns:a16="http://schemas.microsoft.com/office/drawing/2014/main" id="{5004C08B-4E4F-4B91-9BFB-7647CB916DEA}"/>
              </a:ext>
            </a:extLst>
          </p:cNvPr>
          <p:cNvSpPr>
            <a:spLocks xmlns:a="http://schemas.openxmlformats.org/drawingml/2006/main" noGrp="1"/>
          </p:cNvSpPr>
          <p:nvPr/>
        </p:nvSpPr>
        <p:spPr>
          <a:xfrm xmlns:a="http://schemas.openxmlformats.org/drawingml/2006/main">
            <a:off x="685800" y="56197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D3B"/>
                </a:solidFill>
                <a:latin typeface="Arial"/>
                <a:ea typeface="Arial"/>
                <a:cs typeface="Arial"/>
              </a:defRPr>
            </a:defPPr>
          </a:lstStyle>
          <a:p xmlns:a="http://schemas.openxmlformats.org/drawingml/2006/main">
            <a:pPr algn="l">
              <a:defRPr sz="2175" b="1">
                <a:solidFill>
                  <a:srgbClr val="142D3B"/>
                </a:solidFill>
                <a:latin typeface="Arial"/>
                <a:ea typeface="Arial"/>
                <a:cs typeface="Arial"/>
              </a:defRPr>
            </a:pPr>
            <a:r>
              <a:rPr sz="2175" b="1">
                <a:solidFill>
                  <a:srgbClr val="142D3B"/>
                </a:solidFill>
                <a:latin typeface="Arial"/>
                <a:ea typeface="Arial"/>
                <a:cs typeface="Arial"/>
              </a:rPr>
              <a:t>Revenue − known cost of goods sold − operating expenses</a:t>
            </a:r>
          </a:p>
        </p:txBody>
      </p:sp>
      <p:sp>
        <p:nvSpPr>
          <p:cNvPr id="9" name="coverage-note">
            <a:extLst xmlns:a="http://schemas.openxmlformats.org/drawingml/2006/main">
              <a:ext uri="{FF2B5EF4-FFF2-40B4-BE49-F238E27FC236}">
                <a16:creationId xmlns:a16="http://schemas.microsoft.com/office/drawing/2014/main" id="{7329832E-1982-4303-87B9-71D8215DCDFB}"/>
              </a:ext>
            </a:extLst>
          </p:cNvPr>
          <p:cNvSpPr>
            <a:spLocks xmlns:a="http://schemas.openxmlformats.org/drawingml/2006/main" noGrp="1"/>
          </p:cNvSpPr>
          <p:nvPr/>
        </p:nvSpPr>
        <p:spPr>
          <a:xfrm xmlns:a="http://schemas.openxmlformats.org/drawingml/2006/main">
            <a:off x="685800" y="61150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575"/>
                </a:solidFill>
                <a:latin typeface="Arial"/>
                <a:ea typeface="Arial"/>
                <a:cs typeface="Arial"/>
              </a:defRPr>
            </a:defPPr>
          </a:lstStyle>
          <a:p xmlns:a="http://schemas.openxmlformats.org/drawingml/2006/main">
            <a:pPr algn="l">
              <a:defRPr sz="1575" b="0">
                <a:solidFill>
                  <a:srgbClr val="526575"/>
                </a:solidFill>
                <a:latin typeface="Arial"/>
                <a:ea typeface="Arial"/>
                <a:cs typeface="Arial"/>
              </a:defRPr>
            </a:pPr>
            <a:r>
              <a:rPr sz="1575" b="0">
                <a:solidFill>
                  <a:srgbClr val="526575"/>
                </a:solidFill>
                <a:latin typeface="Arial"/>
                <a:ea typeface="Arial"/>
                <a:cs typeface="Arial"/>
              </a:rPr>
              <a:t>Inventory purchases are excluded from this deduction. Missing costs reduce reliability.</a:t>
            </a:r>
          </a:p>
        </p:txBody>
      </p:sp>
    </p:spTree>
    <p:extLst>
      <p:ext uri="{BB962C8B-B14F-4D97-AF65-F5344CB8AC3E}">
        <p14:creationId xmlns:p14="http://schemas.microsoft.com/office/powerpoint/2010/main" val="1998493759"/>
      </p:ext>
    </p:extLst>
  </p:cSld>
</p:sld>
</file>

<file path=ppt/slides/slide6.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689E858-3380-49C8-9EA5-ECAF9B29BB57}"/>
              </a:ext>
            </a:extLst>
          </p:cNvPr>
          <p:cNvSpPr>
            <a:spLocks xmlns:a="http://schemas.openxmlformats.org/drawingml/2006/main" noGrp="1"/>
          </p:cNvSpPr>
          <p:nvPr/>
        </p:nvSpPr>
        <p:spPr>
          <a:xfrm xmlns:a="http://schemas.openxmlformats.org/drawingml/2006/main">
            <a:off x="685800" y="4953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B"/>
                </a:solidFill>
                <a:latin typeface="Arial"/>
                <a:ea typeface="Arial"/>
                <a:cs typeface="Arial"/>
              </a:defRPr>
            </a:defPPr>
          </a:lstStyle>
          <a:p xmlns:a="http://schemas.openxmlformats.org/drawingml/2006/main">
            <a:pPr algn="l">
              <a:defRPr sz="3300" b="1">
                <a:solidFill>
                  <a:srgbClr val="142D3B"/>
                </a:solidFill>
                <a:latin typeface="Arial"/>
                <a:ea typeface="Arial"/>
                <a:cs typeface="Arial"/>
              </a:defRPr>
            </a:pPr>
            <a:r>
              <a:rPr sz="3300" b="1">
                <a:solidFill>
                  <a:srgbClr val="142D3B"/>
                </a:solidFill>
                <a:latin typeface="Arial"/>
                <a:ea typeface="Arial"/>
                <a:cs typeface="Arial"/>
              </a:rPr>
              <a:t>Predictive analytics</a:t>
            </a:r>
          </a:p>
        </p:txBody>
      </p:sp>
      <p:sp>
        <p:nvSpPr>
          <p:cNvPr id="2" name="slide-number">
            <a:extLst xmlns:a="http://schemas.openxmlformats.org/drawingml/2006/main">
              <a:ext uri="{FF2B5EF4-FFF2-40B4-BE49-F238E27FC236}">
                <a16:creationId xmlns:a16="http://schemas.microsoft.com/office/drawing/2014/main" id="{707DBC02-B8BB-4648-93C7-C86A72313514}"/>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575"/>
                </a:solidFill>
                <a:latin typeface="Arial"/>
                <a:ea typeface="Arial"/>
                <a:cs typeface="Arial"/>
              </a:defRPr>
            </a:defPPr>
          </a:lstStyle>
          <a:p xmlns:a="http://schemas.openxmlformats.org/drawingml/2006/main">
            <a:pPr algn="r">
              <a:defRPr sz="1500" b="0">
                <a:solidFill>
                  <a:srgbClr val="526575"/>
                </a:solidFill>
                <a:latin typeface="Arial"/>
                <a:ea typeface="Arial"/>
                <a:cs typeface="Arial"/>
              </a:defRPr>
            </a:pPr>
            <a:r>
              <a:rPr sz="1500" b="0">
                <a:solidFill>
                  <a:srgbClr val="526575"/>
                </a:solidFill>
                <a:latin typeface="Arial"/>
                <a:ea typeface="Arial"/>
                <a:cs typeface="Arial"/>
              </a:rPr>
              <a:t>06</a:t>
            </a:r>
          </a:p>
        </p:txBody>
      </p:sp>
      <p:sp>
        <p:nvSpPr>
          <p:cNvPr id="3" name="forecast-method">
            <a:extLst xmlns:a="http://schemas.openxmlformats.org/drawingml/2006/main">
              <a:ext uri="{FF2B5EF4-FFF2-40B4-BE49-F238E27FC236}">
                <a16:creationId xmlns:a16="http://schemas.microsoft.com/office/drawing/2014/main" id="{BF0957A5-FE60-4347-9D3A-F527A0252995}"/>
              </a:ext>
            </a:extLst>
          </p:cNvPr>
          <p:cNvSpPr>
            <a:spLocks xmlns:a="http://schemas.openxmlformats.org/drawingml/2006/main" noGrp="1"/>
          </p:cNvSpPr>
          <p:nvPr/>
        </p:nvSpPr>
        <p:spPr>
          <a:xfrm xmlns:a="http://schemas.openxmlformats.org/drawingml/2006/main">
            <a:off x="685800" y="135255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42D3B"/>
                </a:solidFill>
                <a:latin typeface="Arial"/>
                <a:ea typeface="Arial"/>
                <a:cs typeface="Arial"/>
              </a:defRPr>
            </a:defPPr>
          </a:lstStyle>
          <a:p xmlns:a="http://schemas.openxmlformats.org/drawingml/2006/main">
            <a:pPr algn="l">
              <a:defRPr sz="2100" b="0">
                <a:solidFill>
                  <a:srgbClr val="142D3B"/>
                </a:solidFill>
                <a:latin typeface="Arial"/>
                <a:ea typeface="Arial"/>
                <a:cs typeface="Arial"/>
              </a:defRPr>
            </a:pPr>
            <a:r>
              <a:rPr sz="2100" b="0">
                <a:solidFill>
                  <a:srgbClr val="142D3B"/>
                </a:solidFill>
                <a:latin typeface="Arial"/>
                <a:ea typeface="Arial"/>
                <a:cs typeface="Arial"/>
              </a:rPr>
              <a:t>Local Holt trend forecasting estimates revenue or total spending.</a:t>
            </a:r>
          </a:p>
        </p:txBody>
      </p:sp>
      <p:graphicFrame>
        <p:nvGraphicFramePr>
          <p:cNvPr id="4" name="">
            <a:extLst xmlns:a="http://schemas.openxmlformats.org/drawingml/2006/main">
              <a:ext uri="{FF2B5EF4-FFF2-40B4-BE49-F238E27FC236}">
                <a16:creationId xmlns:a16="http://schemas.microsoft.com/office/drawing/2014/main" id="{13553542-D5C4-4814-B678-720125934564}"/>
              </a:ext>
            </a:extLst>
          </p:cNvPr>
          <p:cNvGraphicFramePr/>
          <p:nvPr/>
        </p:nvGraphicFramePr>
        <p:xfrm>
          <a:off xmlns:a="http://schemas.openxmlformats.org/drawingml/2006/main" x="685800" y="2209800"/>
          <a:ext xmlns:a="http://schemas.openxmlformats.org/drawingml/2006/main" cx="10820400" cy="2667000"/>
        </p:xfrm>
        <a:graphic xmlns:a="http://schemas.openxmlformats.org/drawingml/2006/main">
          <a:graphicData uri="http://schemas.openxmlformats.org/drawingml/2006/table">
            <a:tbl>
              <a:tblPr firstRow="0" bandRow="0"/>
              <a:tblGrid>
                <a:gridCol w="2905125"/>
                <a:gridCol w="3695700"/>
                <a:gridCol w="4219575"/>
              </a:tblGrid>
              <a:tr h="666750">
                <a:tc>
                  <a:txBody>
                    <a:bodyPr lIns="152400" tIns="114300" rIns="114300" bIns="76200"/>
                    <a:lstStyle/>
                    <a:p>
                      <a:r>
                        <a:rPr sz="1800" b="1">
                          <a:solidFill>
                            <a:srgbClr val="FFFFFF"/>
                          </a:solidFill>
                          <a:latin typeface="Arial"/>
                          <a:ea typeface="Arial"/>
                          <a:cs typeface="Arial"/>
                        </a:rPr>
                        <a:t>Forecast horizon</a:t>
                      </a:r>
                    </a:p>
                  </a:txBody>
                  <a:tcPr marL="91440" marR="91440" marT="45720" marB="45720" anchor="ctr">
                    <a:lnL w="9525">
                      <a:solidFill>
                        <a:srgbClr val="D6E4E8"/>
                      </a:solidFill>
                      <a:prstDash val="solid"/>
                    </a:lnL>
                    <a:lnR w="9525">
                      <a:solidFill>
                        <a:srgbClr val="D6E4E8"/>
                      </a:solidFill>
                      <a:prstDash val="solid"/>
                    </a:lnR>
                    <a:lnT w="9525">
                      <a:solidFill>
                        <a:srgbClr val="D6E4E8"/>
                      </a:solidFill>
                      <a:prstDash val="solid"/>
                    </a:lnT>
                    <a:lnB w="9525">
                      <a:solidFill>
                        <a:srgbClr val="D6E4E8"/>
                      </a:solidFill>
                      <a:prstDash val="solid"/>
                    </a:lnB>
                    <a:solidFill>
                      <a:srgbClr val="142D3B"/>
                    </a:solidFill>
                  </a:tcPr>
                </a:tc>
                <a:tc>
                  <a:txBody>
                    <a:bodyPr lIns="152400" tIns="114300" rIns="114300" bIns="76200"/>
                    <a:lstStyle/>
                    <a:p>
                      <a:r>
                        <a:rPr sz="1800" b="1">
                          <a:solidFill>
                            <a:srgbClr val="FFFFFF"/>
                          </a:solidFill>
                          <a:latin typeface="Arial"/>
                          <a:ea typeface="Arial"/>
                          <a:cs typeface="Arial"/>
                        </a:rPr>
                        <a:t>Minimum recorded history</a:t>
                      </a:r>
                    </a:p>
                  </a:txBody>
                  <a:tcPr marL="91440" marR="91440" marT="45720" marB="45720" anchor="ctr">
                    <a:lnR w="9525">
                      <a:solidFill>
                        <a:srgbClr val="D6E4E8"/>
                      </a:solidFill>
                      <a:prstDash val="solid"/>
                    </a:lnR>
                    <a:lnT w="9525">
                      <a:solidFill>
                        <a:srgbClr val="D6E4E8"/>
                      </a:solidFill>
                      <a:prstDash val="solid"/>
                    </a:lnT>
                    <a:lnB w="9525">
                      <a:solidFill>
                        <a:srgbClr val="D6E4E8"/>
                      </a:solidFill>
                      <a:prstDash val="solid"/>
                    </a:lnB>
                    <a:solidFill>
                      <a:srgbClr val="142D3B"/>
                    </a:solidFill>
                  </a:tcPr>
                </a:tc>
                <a:tc>
                  <a:txBody>
                    <a:bodyPr lIns="152400" tIns="114300" rIns="114300" bIns="76200"/>
                    <a:lstStyle/>
                    <a:p>
                      <a:r>
                        <a:rPr sz="1800" b="1">
                          <a:solidFill>
                            <a:srgbClr val="FFFFFF"/>
                          </a:solidFill>
                          <a:latin typeface="Arial"/>
                          <a:ea typeface="Arial"/>
                          <a:cs typeface="Arial"/>
                        </a:rPr>
                        <a:t>Displayed result</a:t>
                      </a:r>
                    </a:p>
                  </a:txBody>
                  <a:tcPr marL="91440" marR="91440" marT="45720" marB="45720" anchor="ctr">
                    <a:lnR w="9525">
                      <a:solidFill>
                        <a:srgbClr val="D6E4E8"/>
                      </a:solidFill>
                      <a:prstDash val="solid"/>
                    </a:lnR>
                    <a:lnT w="9525">
                      <a:solidFill>
                        <a:srgbClr val="D6E4E8"/>
                      </a:solidFill>
                      <a:prstDash val="solid"/>
                    </a:lnT>
                    <a:lnB w="9525">
                      <a:solidFill>
                        <a:srgbClr val="D6E4E8"/>
                      </a:solidFill>
                      <a:prstDash val="solid"/>
                    </a:lnB>
                    <a:solidFill>
                      <a:srgbClr val="142D3B"/>
                    </a:solidFill>
                  </a:tcPr>
                </a:tc>
              </a:tr>
              <a:tr h="666750">
                <a:tc>
                  <a:txBody>
                    <a:bodyPr lIns="152400" tIns="114300" rIns="114300" bIns="76200"/>
                    <a:lstStyle/>
                    <a:p>
                      <a:r>
                        <a:rPr sz="1800" b="0">
                          <a:solidFill>
                            <a:srgbClr val="142D3B"/>
                          </a:solidFill>
                          <a:latin typeface="Arial"/>
                          <a:ea typeface="Arial"/>
                          <a:cs typeface="Arial"/>
                        </a:rPr>
                        <a:t>Next 7 days</a:t>
                      </a:r>
                    </a:p>
                  </a:txBody>
                  <a:tcPr marL="91440" marR="91440" marT="45720" marB="45720" anchor="ctr">
                    <a:lnL w="9525">
                      <a:solidFill>
                        <a:srgbClr val="D6E4E8"/>
                      </a:solidFill>
                      <a:prstDash val="solid"/>
                    </a:lnL>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14 dates</a:t>
                      </a:r>
                    </a:p>
                  </a:txBody>
                  <a:tcPr marL="91440" marR="91440" marT="45720" marB="45720" anchor="ctr">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7 daily estimates</a:t>
                      </a:r>
                    </a:p>
                  </a:txBody>
                  <a:tcPr marL="91440" marR="91440" marT="45720" marB="45720" anchor="ctr">
                    <a:lnR w="9525">
                      <a:solidFill>
                        <a:srgbClr val="D6E4E8"/>
                      </a:solidFill>
                      <a:prstDash val="solid"/>
                    </a:lnR>
                    <a:lnB w="9525">
                      <a:solidFill>
                        <a:srgbClr val="D6E4E8"/>
                      </a:solidFill>
                      <a:prstDash val="solid"/>
                    </a:lnB>
                    <a:solidFill>
                      <a:srgbClr val="FFFFFF"/>
                    </a:solidFill>
                  </a:tcPr>
                </a:tc>
              </a:tr>
              <a:tr h="666750">
                <a:tc>
                  <a:txBody>
                    <a:bodyPr lIns="152400" tIns="114300" rIns="114300" bIns="76200"/>
                    <a:lstStyle/>
                    <a:p>
                      <a:r>
                        <a:rPr sz="1800" b="0">
                          <a:solidFill>
                            <a:srgbClr val="142D3B"/>
                          </a:solidFill>
                          <a:latin typeface="Arial"/>
                          <a:ea typeface="Arial"/>
                          <a:cs typeface="Arial"/>
                        </a:rPr>
                        <a:t>Next 30 days</a:t>
                      </a:r>
                    </a:p>
                  </a:txBody>
                  <a:tcPr marL="91440" marR="91440" marT="45720" marB="45720" anchor="ctr">
                    <a:lnL w="9525">
                      <a:solidFill>
                        <a:srgbClr val="D6E4E8"/>
                      </a:solidFill>
                      <a:prstDash val="solid"/>
                    </a:lnL>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60 dates</a:t>
                      </a:r>
                    </a:p>
                  </a:txBody>
                  <a:tcPr marL="91440" marR="91440" marT="45720" marB="45720" anchor="ctr">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30 daily estimates</a:t>
                      </a:r>
                    </a:p>
                  </a:txBody>
                  <a:tcPr marL="91440" marR="91440" marT="45720" marB="45720" anchor="ctr">
                    <a:lnR w="9525">
                      <a:solidFill>
                        <a:srgbClr val="D6E4E8"/>
                      </a:solidFill>
                      <a:prstDash val="solid"/>
                    </a:lnR>
                    <a:lnB w="9525">
                      <a:solidFill>
                        <a:srgbClr val="D6E4E8"/>
                      </a:solidFill>
                      <a:prstDash val="solid"/>
                    </a:lnB>
                    <a:solidFill>
                      <a:srgbClr val="FFFFFF"/>
                    </a:solidFill>
                  </a:tcPr>
                </a:tc>
              </a:tr>
              <a:tr h="666750">
                <a:tc>
                  <a:txBody>
                    <a:bodyPr lIns="152400" tIns="114300" rIns="114300" bIns="76200"/>
                    <a:lstStyle/>
                    <a:p>
                      <a:r>
                        <a:rPr sz="1800" b="0">
                          <a:solidFill>
                            <a:srgbClr val="142D3B"/>
                          </a:solidFill>
                          <a:latin typeface="Arial"/>
                          <a:ea typeface="Arial"/>
                          <a:cs typeface="Arial"/>
                        </a:rPr>
                        <a:t>Next 3 months</a:t>
                      </a:r>
                    </a:p>
                  </a:txBody>
                  <a:tcPr marL="91440" marR="91440" marT="45720" marB="45720" anchor="ctr">
                    <a:lnL w="9525">
                      <a:solidFill>
                        <a:srgbClr val="D6E4E8"/>
                      </a:solidFill>
                      <a:prstDash val="solid"/>
                    </a:lnL>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180 dates</a:t>
                      </a:r>
                    </a:p>
                  </a:txBody>
                  <a:tcPr marL="91440" marR="91440" marT="45720" marB="45720" anchor="ctr">
                    <a:lnR w="9525">
                      <a:solidFill>
                        <a:srgbClr val="D6E4E8"/>
                      </a:solidFill>
                      <a:prstDash val="solid"/>
                    </a:lnR>
                    <a:lnB w="9525">
                      <a:solidFill>
                        <a:srgbClr val="D6E4E8"/>
                      </a:solidFill>
                      <a:prstDash val="solid"/>
                    </a:lnB>
                    <a:solidFill>
                      <a:srgbClr val="FFFFFF"/>
                    </a:solidFill>
                  </a:tcPr>
                </a:tc>
                <a:tc>
                  <a:txBody>
                    <a:bodyPr lIns="152400" tIns="114300" rIns="114300" bIns="76200"/>
                    <a:lstStyle/>
                    <a:p>
                      <a:r>
                        <a:rPr sz="1800" b="0">
                          <a:solidFill>
                            <a:srgbClr val="142D3B"/>
                          </a:solidFill>
                          <a:latin typeface="Arial"/>
                          <a:ea typeface="Arial"/>
                          <a:cs typeface="Arial"/>
                        </a:rPr>
                        <a:t>3 full calendar-month totals</a:t>
                      </a:r>
                    </a:p>
                  </a:txBody>
                  <a:tcPr marL="91440" marR="91440" marT="45720" marB="45720" anchor="ctr">
                    <a:lnR w="9525">
                      <a:solidFill>
                        <a:srgbClr val="D6E4E8"/>
                      </a:solidFill>
                      <a:prstDash val="solid"/>
                    </a:lnR>
                    <a:lnB w="9525">
                      <a:solidFill>
                        <a:srgbClr val="D6E4E8"/>
                      </a:solidFill>
                      <a:prstDash val="solid"/>
                    </a:lnB>
                    <a:solidFill>
                      <a:srgbClr val="FFFFFF"/>
                    </a:solidFill>
                  </a:tcPr>
                </a:tc>
              </a:tr>
            </a:tbl>
          </a:graphicData>
        </a:graphic>
      </p:graphicFrame>
      <p:sp>
        <p:nvSpPr>
          <p:cNvPr id="5" name="forecast-quality">
            <a:extLst xmlns:a="http://schemas.openxmlformats.org/drawingml/2006/main">
              <a:ext uri="{FF2B5EF4-FFF2-40B4-BE49-F238E27FC236}">
                <a16:creationId xmlns:a16="http://schemas.microsoft.com/office/drawing/2014/main" id="{52E6049E-B6C7-41FC-BE36-CFA847FA3107}"/>
              </a:ext>
            </a:extLst>
          </p:cNvPr>
          <p:cNvSpPr>
            <a:spLocks xmlns:a="http://schemas.openxmlformats.org/drawingml/2006/main" noGrp="1"/>
          </p:cNvSpPr>
          <p:nvPr/>
        </p:nvSpPr>
        <p:spPr>
          <a:xfrm xmlns:a="http://schemas.openxmlformats.org/drawingml/2006/main">
            <a:off x="685800" y="52197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Historical holdouts and a simple baseline help assess forecast error.</a:t>
            </a:r>
          </a:p>
        </p:txBody>
      </p:sp>
      <p:sp>
        <p:nvSpPr>
          <p:cNvPr id="6" name="forecast-limit">
            <a:extLst xmlns:a="http://schemas.openxmlformats.org/drawingml/2006/main">
              <a:ext uri="{FF2B5EF4-FFF2-40B4-BE49-F238E27FC236}">
                <a16:creationId xmlns:a16="http://schemas.microsoft.com/office/drawing/2014/main" id="{5B2CB056-74E0-4235-A516-4DC5DAF88A11}"/>
              </a:ext>
            </a:extLst>
          </p:cNvPr>
          <p:cNvSpPr>
            <a:spLocks xmlns:a="http://schemas.openxmlformats.org/drawingml/2006/main" noGrp="1"/>
          </p:cNvSpPr>
          <p:nvPr/>
        </p:nvSpPr>
        <p:spPr>
          <a:xfrm xmlns:a="http://schemas.openxmlformats.org/drawingml/2006/main">
            <a:off x="685800" y="582930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5"/>
                </a:solidFill>
                <a:latin typeface="Arial"/>
                <a:ea typeface="Arial"/>
                <a:cs typeface="Arial"/>
              </a:defRPr>
            </a:defPPr>
          </a:lstStyle>
          <a:p xmlns:a="http://schemas.openxmlformats.org/drawingml/2006/main">
            <a:pPr algn="l">
              <a:defRPr sz="1800" b="0">
                <a:solidFill>
                  <a:srgbClr val="526575"/>
                </a:solidFill>
                <a:latin typeface="Arial"/>
                <a:ea typeface="Arial"/>
                <a:cs typeface="Arial"/>
              </a:defRPr>
            </a:pPr>
            <a:r>
              <a:rPr sz="1800" b="0">
                <a:solidFill>
                  <a:srgbClr val="526575"/>
                </a:solidFill>
                <a:latin typeface="Arial"/>
                <a:ea typeface="Arial"/>
                <a:cs typeface="Arial"/>
              </a:rPr>
              <a:t>Owners confirm gaps before treating them as zero. The model has no seasonal component.</a:t>
            </a:r>
          </a:p>
        </p:txBody>
      </p:sp>
    </p:spTree>
    <p:extLst>
      <p:ext uri="{BB962C8B-B14F-4D97-AF65-F5344CB8AC3E}">
        <p14:creationId xmlns:p14="http://schemas.microsoft.com/office/powerpoint/2010/main" val="1712693342"/>
      </p:ext>
    </p:extLst>
  </p:cSld>
</p:sld>
</file>

<file path=ppt/slides/slide7.xml><?xml version="1.0" encoding="utf-8"?>
<p:sld xmlns:p="http://schemas.openxmlformats.org/presentationml/2006/main">
  <p:cSld>
    <p:bg>
      <p:bgPr>
        <a:solidFill xmlns:a="http://schemas.openxmlformats.org/drawingml/2006/main">
          <a:srgbClr val="142D3B"/>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11CF083C-06B2-4476-A72B-E22217DA2492}"/>
              </a:ext>
            </a:extLst>
          </p:cNvPr>
          <p:cNvSpPr>
            <a:spLocks xmlns:a="http://schemas.openxmlformats.org/drawingml/2006/main" noGrp="1"/>
          </p:cNvSpPr>
          <p:nvPr/>
        </p:nvSpPr>
        <p:spPr>
          <a:xfrm xmlns:a="http://schemas.openxmlformats.org/drawingml/2006/main">
            <a:off x="685800" y="4953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AI assistant and feedback analysis</a:t>
            </a:r>
          </a:p>
        </p:txBody>
      </p:sp>
      <p:sp>
        <p:nvSpPr>
          <p:cNvPr id="2" name="slide-number">
            <a:extLst xmlns:a="http://schemas.openxmlformats.org/drawingml/2006/main">
              <a:ext uri="{FF2B5EF4-FFF2-40B4-BE49-F238E27FC236}">
                <a16:creationId xmlns:a16="http://schemas.microsoft.com/office/drawing/2014/main" id="{E04E6BB7-F9B5-44F2-A5D0-8BE153021FCE}"/>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D6E4E8"/>
                </a:solidFill>
                <a:latin typeface="Arial"/>
                <a:ea typeface="Arial"/>
                <a:cs typeface="Arial"/>
              </a:defRPr>
            </a:defPPr>
          </a:lstStyle>
          <a:p xmlns:a="http://schemas.openxmlformats.org/drawingml/2006/main">
            <a:pPr algn="r">
              <a:defRPr sz="1500" b="0">
                <a:solidFill>
                  <a:srgbClr val="D6E4E8"/>
                </a:solidFill>
                <a:latin typeface="Arial"/>
                <a:ea typeface="Arial"/>
                <a:cs typeface="Arial"/>
              </a:defRPr>
            </a:pPr>
            <a:r>
              <a:rPr sz="1500" b="0">
                <a:solidFill>
                  <a:srgbClr val="D6E4E8"/>
                </a:solidFill>
                <a:latin typeface="Arial"/>
                <a:ea typeface="Arial"/>
                <a:cs typeface="Arial"/>
              </a:rPr>
              <a:t>07</a:t>
            </a:r>
          </a:p>
        </p:txBody>
      </p:sp>
      <p:sp>
        <p:nvSpPr>
          <p:cNvPr id="3" name="assistant-heading">
            <a:extLst xmlns:a="http://schemas.openxmlformats.org/drawingml/2006/main">
              <a:ext uri="{FF2B5EF4-FFF2-40B4-BE49-F238E27FC236}">
                <a16:creationId xmlns:a16="http://schemas.microsoft.com/office/drawing/2014/main" id="{1105AAB3-E207-49B8-814C-D7EBC07D7148}"/>
              </a:ext>
            </a:extLst>
          </p:cNvPr>
          <p:cNvSpPr>
            <a:spLocks xmlns:a="http://schemas.openxmlformats.org/drawingml/2006/main" noGrp="1"/>
          </p:cNvSpPr>
          <p:nvPr/>
        </p:nvSpPr>
        <p:spPr>
          <a:xfrm xmlns:a="http://schemas.openxmlformats.org/drawingml/2006/main">
            <a:off x="685800" y="1714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1D4D5"/>
                </a:solidFill>
                <a:latin typeface="Arial"/>
                <a:ea typeface="Arial"/>
                <a:cs typeface="Arial"/>
              </a:defRPr>
            </a:defPPr>
          </a:lstStyle>
          <a:p xmlns:a="http://schemas.openxmlformats.org/drawingml/2006/main">
            <a:pPr algn="l">
              <a:defRPr sz="2175" b="1">
                <a:solidFill>
                  <a:srgbClr val="61D4D5"/>
                </a:solidFill>
                <a:latin typeface="Arial"/>
                <a:ea typeface="Arial"/>
                <a:cs typeface="Arial"/>
              </a:defRPr>
            </a:pPr>
            <a:r>
              <a:rPr sz="2175" b="1">
                <a:solidFill>
                  <a:srgbClr val="61D4D5"/>
                </a:solidFill>
                <a:latin typeface="Arial"/>
                <a:ea typeface="Arial"/>
                <a:cs typeface="Arial"/>
              </a:rPr>
              <a:t>Business assistant</a:t>
            </a:r>
          </a:p>
        </p:txBody>
      </p:sp>
      <p:sp>
        <p:nvSpPr>
          <p:cNvPr id="4" name="assistant-body">
            <a:extLst xmlns:a="http://schemas.openxmlformats.org/drawingml/2006/main">
              <a:ext uri="{FF2B5EF4-FFF2-40B4-BE49-F238E27FC236}">
                <a16:creationId xmlns:a16="http://schemas.microsoft.com/office/drawing/2014/main" id="{68835346-714C-4C1B-8130-7781FCFA6499}"/>
              </a:ext>
            </a:extLst>
          </p:cNvPr>
          <p:cNvSpPr>
            <a:spLocks xmlns:a="http://schemas.openxmlformats.org/drawingml/2006/main" noGrp="1"/>
          </p:cNvSpPr>
          <p:nvPr/>
        </p:nvSpPr>
        <p:spPr>
          <a:xfrm xmlns:a="http://schemas.openxmlformats.org/drawingml/2006/main">
            <a:off x="685800" y="21812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Explains the selected period using calculated metrics and recent conversation context.</a:t>
            </a:r>
          </a:p>
        </p:txBody>
      </p:sp>
      <p:sp>
        <p:nvSpPr>
          <p:cNvPr id="5" name="assistant-model">
            <a:extLst xmlns:a="http://schemas.openxmlformats.org/drawingml/2006/main">
              <a:ext uri="{FF2B5EF4-FFF2-40B4-BE49-F238E27FC236}">
                <a16:creationId xmlns:a16="http://schemas.microsoft.com/office/drawing/2014/main" id="{53E02199-37E0-4C04-B742-C6636883BE97}"/>
              </a:ext>
            </a:extLst>
          </p:cNvPr>
          <p:cNvSpPr>
            <a:spLocks xmlns:a="http://schemas.openxmlformats.org/drawingml/2006/main" noGrp="1"/>
          </p:cNvSpPr>
          <p:nvPr/>
        </p:nvSpPr>
        <p:spPr>
          <a:xfrm xmlns:a="http://schemas.openxmlformats.org/drawingml/2006/main">
            <a:off x="685800" y="3371850"/>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1D4D5"/>
                </a:solidFill>
                <a:latin typeface="Arial"/>
                <a:ea typeface="Arial"/>
                <a:cs typeface="Arial"/>
              </a:defRPr>
            </a:defPPr>
          </a:lstStyle>
          <a:p xmlns:a="http://schemas.openxmlformats.org/drawingml/2006/main">
            <a:pPr algn="l">
              <a:defRPr sz="1875" b="1">
                <a:solidFill>
                  <a:srgbClr val="61D4D5"/>
                </a:solidFill>
                <a:latin typeface="Arial"/>
                <a:ea typeface="Arial"/>
                <a:cs typeface="Arial"/>
              </a:defRPr>
            </a:pPr>
            <a:r>
              <a:rPr sz="1875" b="1">
                <a:solidFill>
                  <a:srgbClr val="61D4D5"/>
                </a:solidFill>
                <a:latin typeface="Arial"/>
                <a:ea typeface="Arial"/>
                <a:cs typeface="Arial"/>
              </a:rPr>
              <a:t>Nemotron 3.5 Lightning</a:t>
            </a:r>
          </a:p>
          <a:p xmlns:a="http://schemas.openxmlformats.org/drawingml/2006/main">
            <a:pPr algn="l">
              <a:defRPr sz="1875" b="1">
                <a:solidFill>
                  <a:srgbClr val="61D4D5"/>
                </a:solidFill>
                <a:latin typeface="Arial"/>
                <a:ea typeface="Arial"/>
                <a:cs typeface="Arial"/>
              </a:defRPr>
            </a:pPr>
            <a:r>
              <a:rPr sz="1875" b="1">
                <a:solidFill>
                  <a:srgbClr val="61D4D5"/>
                </a:solidFill>
                <a:latin typeface="Arial"/>
                <a:ea typeface="Arial"/>
                <a:cs typeface="Arial"/>
              </a:rPr>
              <a:t>Hosted by NVIDIA</a:t>
            </a:r>
          </a:p>
        </p:txBody>
      </p:sp>
      <p:sp>
        <p:nvSpPr>
          <p:cNvPr id="6" name="feedback-heading">
            <a:extLst xmlns:a="http://schemas.openxmlformats.org/drawingml/2006/main">
              <a:ext uri="{FF2B5EF4-FFF2-40B4-BE49-F238E27FC236}">
                <a16:creationId xmlns:a16="http://schemas.microsoft.com/office/drawing/2014/main" id="{1DA1FDCD-374A-446E-B7D6-2C8C97B7D03D}"/>
              </a:ext>
            </a:extLst>
          </p:cNvPr>
          <p:cNvSpPr>
            <a:spLocks xmlns:a="http://schemas.openxmlformats.org/drawingml/2006/main" noGrp="1"/>
          </p:cNvSpPr>
          <p:nvPr/>
        </p:nvSpPr>
        <p:spPr>
          <a:xfrm xmlns:a="http://schemas.openxmlformats.org/drawingml/2006/main">
            <a:off x="6534150" y="1714500"/>
            <a:ext cx="497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61D4D5"/>
                </a:solidFill>
                <a:latin typeface="Arial"/>
                <a:ea typeface="Arial"/>
                <a:cs typeface="Arial"/>
              </a:defRPr>
            </a:defPPr>
          </a:lstStyle>
          <a:p xmlns:a="http://schemas.openxmlformats.org/drawingml/2006/main">
            <a:pPr algn="l">
              <a:defRPr sz="2175" b="1">
                <a:solidFill>
                  <a:srgbClr val="61D4D5"/>
                </a:solidFill>
                <a:latin typeface="Arial"/>
                <a:ea typeface="Arial"/>
                <a:cs typeface="Arial"/>
              </a:defRPr>
            </a:pPr>
            <a:r>
              <a:rPr sz="2175" b="1">
                <a:solidFill>
                  <a:srgbClr val="61D4D5"/>
                </a:solidFill>
                <a:latin typeface="Arial"/>
                <a:ea typeface="Arial"/>
                <a:cs typeface="Arial"/>
              </a:rPr>
              <a:t>Customer feedback</a:t>
            </a:r>
          </a:p>
        </p:txBody>
      </p:sp>
      <p:sp>
        <p:nvSpPr>
          <p:cNvPr id="7" name="feedback-body">
            <a:extLst xmlns:a="http://schemas.openxmlformats.org/drawingml/2006/main">
              <a:ext uri="{FF2B5EF4-FFF2-40B4-BE49-F238E27FC236}">
                <a16:creationId xmlns:a16="http://schemas.microsoft.com/office/drawing/2014/main" id="{99CA83AD-6F85-4AE7-87BC-A4BEED172F15}"/>
              </a:ext>
            </a:extLst>
          </p:cNvPr>
          <p:cNvSpPr>
            <a:spLocks xmlns:a="http://schemas.openxmlformats.org/drawingml/2006/main" noGrp="1"/>
          </p:cNvSpPr>
          <p:nvPr/>
        </p:nvSpPr>
        <p:spPr>
          <a:xfrm xmlns:a="http://schemas.openxmlformats.org/drawingml/2006/main">
            <a:off x="6534150" y="2181225"/>
            <a:ext cx="4972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Classifies sentiment, identifies a main topic and summarizes each comment.</a:t>
            </a:r>
          </a:p>
        </p:txBody>
      </p:sp>
      <p:sp>
        <p:nvSpPr>
          <p:cNvPr id="8" name="feedback-model">
            <a:extLst xmlns:a="http://schemas.openxmlformats.org/drawingml/2006/main">
              <a:ext uri="{FF2B5EF4-FFF2-40B4-BE49-F238E27FC236}">
                <a16:creationId xmlns:a16="http://schemas.microsoft.com/office/drawing/2014/main" id="{98F216BB-CFEC-4286-9E92-800C6439D6D3}"/>
              </a:ext>
            </a:extLst>
          </p:cNvPr>
          <p:cNvSpPr>
            <a:spLocks xmlns:a="http://schemas.openxmlformats.org/drawingml/2006/main" noGrp="1"/>
          </p:cNvSpPr>
          <p:nvPr/>
        </p:nvSpPr>
        <p:spPr>
          <a:xfrm xmlns:a="http://schemas.openxmlformats.org/drawingml/2006/main">
            <a:off x="6534150" y="3371850"/>
            <a:ext cx="4972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61D4D5"/>
                </a:solidFill>
                <a:latin typeface="Arial"/>
                <a:ea typeface="Arial"/>
                <a:cs typeface="Arial"/>
              </a:defRPr>
            </a:defPPr>
          </a:lstStyle>
          <a:p xmlns:a="http://schemas.openxmlformats.org/drawingml/2006/main">
            <a:pPr algn="l">
              <a:defRPr sz="1875" b="1">
                <a:solidFill>
                  <a:srgbClr val="61D4D5"/>
                </a:solidFill>
                <a:latin typeface="Arial"/>
                <a:ea typeface="Arial"/>
                <a:cs typeface="Arial"/>
              </a:defRPr>
            </a:pPr>
            <a:r>
              <a:rPr sz="1875" b="1">
                <a:solidFill>
                  <a:srgbClr val="61D4D5"/>
                </a:solidFill>
                <a:latin typeface="Arial"/>
                <a:ea typeface="Arial"/>
                <a:cs typeface="Arial"/>
              </a:rPr>
              <a:t>Google Gemma 4 31B IT</a:t>
            </a:r>
          </a:p>
          <a:p xmlns:a="http://schemas.openxmlformats.org/drawingml/2006/main">
            <a:pPr algn="l">
              <a:defRPr sz="1875" b="1">
                <a:solidFill>
                  <a:srgbClr val="61D4D5"/>
                </a:solidFill>
                <a:latin typeface="Arial"/>
                <a:ea typeface="Arial"/>
                <a:cs typeface="Arial"/>
              </a:defRPr>
            </a:pPr>
            <a:r>
              <a:rPr sz="1875" b="1">
                <a:solidFill>
                  <a:srgbClr val="61D4D5"/>
                </a:solidFill>
                <a:latin typeface="Arial"/>
                <a:ea typeface="Arial"/>
                <a:cs typeface="Arial"/>
              </a:rPr>
              <a:t>Hosted by NVIDIA</a:t>
            </a:r>
          </a:p>
        </p:txBody>
      </p:sp>
      <p:sp>
        <p:nvSpPr>
          <p:cNvPr id="9" name="ai-controls">
            <a:extLst xmlns:a="http://schemas.openxmlformats.org/drawingml/2006/main">
              <a:ext uri="{FF2B5EF4-FFF2-40B4-BE49-F238E27FC236}">
                <a16:creationId xmlns:a16="http://schemas.microsoft.com/office/drawing/2014/main" id="{D9E04F1C-6F57-4093-88C9-EE4146B5E6C6}"/>
              </a:ext>
            </a:extLst>
          </p:cNvPr>
          <p:cNvSpPr>
            <a:spLocks xmlns:a="http://schemas.openxmlformats.org/drawingml/2006/main" noGrp="1"/>
          </p:cNvSpPr>
          <p:nvPr/>
        </p:nvSpPr>
        <p:spPr>
          <a:xfrm xmlns:a="http://schemas.openxmlformats.org/drawingml/2006/main">
            <a:off x="685800" y="47625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Arial"/>
                <a:ea typeface="Arial"/>
                <a:cs typeface="Arial"/>
              </a:defRPr>
            </a:defPPr>
          </a:lstStyle>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The owner requests analysis. The server validates every response.</a:t>
            </a:r>
          </a:p>
          <a:p xmlns:a="http://schemas.openxmlformats.org/drawingml/2006/main">
            <a:pPr algn="l">
              <a:defRPr sz="2025" b="0">
                <a:solidFill>
                  <a:srgbClr val="FFFFFF"/>
                </a:solidFill>
                <a:latin typeface="Arial"/>
                <a:ea typeface="Arial"/>
                <a:cs typeface="Arial"/>
              </a:defRPr>
            </a:pPr>
            <a:r>
              <a:rPr sz="2025" b="0">
                <a:solidFill>
                  <a:srgbClr val="FFFFFF"/>
                </a:solidFill>
                <a:latin typeface="Arial"/>
                <a:ea typeface="Arial"/>
                <a:cs typeface="Arial"/>
              </a:rPr>
              <a:t>AI cannot execute database commands or change records.</a:t>
            </a:r>
          </a:p>
        </p:txBody>
      </p:sp>
      <p:sp>
        <p:nvSpPr>
          <p:cNvPr id="10" name="ai-limits">
            <a:extLst xmlns:a="http://schemas.openxmlformats.org/drawingml/2006/main">
              <a:ext uri="{FF2B5EF4-FFF2-40B4-BE49-F238E27FC236}">
                <a16:creationId xmlns:a16="http://schemas.microsoft.com/office/drawing/2014/main" id="{67374959-0689-43FF-816E-474663AFBD30}"/>
              </a:ext>
            </a:extLst>
          </p:cNvPr>
          <p:cNvSpPr>
            <a:spLocks xmlns:a="http://schemas.openxmlformats.org/drawingml/2006/main" noGrp="1"/>
          </p:cNvSpPr>
          <p:nvPr/>
        </p:nvSpPr>
        <p:spPr>
          <a:xfrm xmlns:a="http://schemas.openxmlformats.org/drawingml/2006/main">
            <a:off x="685800" y="59150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6E4E8"/>
                </a:solidFill>
                <a:latin typeface="Arial"/>
                <a:ea typeface="Arial"/>
                <a:cs typeface="Arial"/>
              </a:defRPr>
            </a:defPPr>
          </a:lstStyle>
          <a:p xmlns:a="http://schemas.openxmlformats.org/drawingml/2006/main">
            <a:pPr algn="l">
              <a:defRPr sz="1725" b="0">
                <a:solidFill>
                  <a:srgbClr val="D6E4E8"/>
                </a:solidFill>
                <a:latin typeface="Arial"/>
                <a:ea typeface="Arial"/>
                <a:cs typeface="Arial"/>
              </a:defRPr>
            </a:pPr>
            <a:r>
              <a:rPr sz="1725" b="0">
                <a:solidFill>
                  <a:srgbClr val="D6E4E8"/>
                </a:solidFill>
                <a:latin typeface="Arial"/>
                <a:ea typeface="Arial"/>
                <a:cs typeface="Arial"/>
              </a:rPr>
              <a:t>AI interpretations require review and depend on provider availability.</a:t>
            </a:r>
          </a:p>
        </p:txBody>
      </p:sp>
    </p:spTree>
    <p:extLst>
      <p:ext uri="{BB962C8B-B14F-4D97-AF65-F5344CB8AC3E}">
        <p14:creationId xmlns:p14="http://schemas.microsoft.com/office/powerpoint/2010/main" val="358052104"/>
      </p:ext>
    </p:extLst>
  </p:cSld>
</p:sld>
</file>

<file path=ppt/slides/slide8.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54144F16-5EEB-430B-945F-C722FDDA62E3}"/>
              </a:ext>
            </a:extLst>
          </p:cNvPr>
          <p:cNvSpPr>
            <a:spLocks xmlns:a="http://schemas.openxmlformats.org/drawingml/2006/main" noGrp="1"/>
          </p:cNvSpPr>
          <p:nvPr/>
        </p:nvSpPr>
        <p:spPr>
          <a:xfrm xmlns:a="http://schemas.openxmlformats.org/drawingml/2006/main">
            <a:off x="685800" y="4953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B"/>
                </a:solidFill>
                <a:latin typeface="Arial"/>
                <a:ea typeface="Arial"/>
                <a:cs typeface="Arial"/>
              </a:defRPr>
            </a:defPPr>
          </a:lstStyle>
          <a:p xmlns:a="http://schemas.openxmlformats.org/drawingml/2006/main">
            <a:pPr algn="l">
              <a:defRPr sz="3300" b="1">
                <a:solidFill>
                  <a:srgbClr val="142D3B"/>
                </a:solidFill>
                <a:latin typeface="Arial"/>
                <a:ea typeface="Arial"/>
                <a:cs typeface="Arial"/>
              </a:defRPr>
            </a:pPr>
            <a:r>
              <a:rPr sz="3300" b="1">
                <a:solidFill>
                  <a:srgbClr val="142D3B"/>
                </a:solidFill>
                <a:latin typeface="Arial"/>
                <a:ea typeface="Arial"/>
                <a:cs typeface="Arial"/>
              </a:rPr>
              <a:t>Alerts and business reports</a:t>
            </a:r>
          </a:p>
        </p:txBody>
      </p:sp>
      <p:sp>
        <p:nvSpPr>
          <p:cNvPr id="2" name="slide-number">
            <a:extLst xmlns:a="http://schemas.openxmlformats.org/drawingml/2006/main">
              <a:ext uri="{FF2B5EF4-FFF2-40B4-BE49-F238E27FC236}">
                <a16:creationId xmlns:a16="http://schemas.microsoft.com/office/drawing/2014/main" id="{B3C15074-1C7C-4534-A62C-E2DEC43816EA}"/>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575"/>
                </a:solidFill>
                <a:latin typeface="Arial"/>
                <a:ea typeface="Arial"/>
                <a:cs typeface="Arial"/>
              </a:defRPr>
            </a:defPPr>
          </a:lstStyle>
          <a:p xmlns:a="http://schemas.openxmlformats.org/drawingml/2006/main">
            <a:pPr algn="r">
              <a:defRPr sz="1500" b="0">
                <a:solidFill>
                  <a:srgbClr val="526575"/>
                </a:solidFill>
                <a:latin typeface="Arial"/>
                <a:ea typeface="Arial"/>
                <a:cs typeface="Arial"/>
              </a:defRPr>
            </a:pPr>
            <a:r>
              <a:rPr sz="1500" b="0">
                <a:solidFill>
                  <a:srgbClr val="526575"/>
                </a:solidFill>
                <a:latin typeface="Arial"/>
                <a:ea typeface="Arial"/>
                <a:cs typeface="Arial"/>
              </a:rPr>
              <a:t>08</a:t>
            </a:r>
          </a:p>
        </p:txBody>
      </p:sp>
      <p:sp>
        <p:nvSpPr>
          <p:cNvPr id="3" name="alerts-heading">
            <a:extLst xmlns:a="http://schemas.openxmlformats.org/drawingml/2006/main">
              <a:ext uri="{FF2B5EF4-FFF2-40B4-BE49-F238E27FC236}">
                <a16:creationId xmlns:a16="http://schemas.microsoft.com/office/drawing/2014/main" id="{AA34DE74-072F-4255-A462-936E590A1C0D}"/>
              </a:ext>
            </a:extLst>
          </p:cNvPr>
          <p:cNvSpPr>
            <a:spLocks xmlns:a="http://schemas.openxmlformats.org/drawingml/2006/main" noGrp="1"/>
          </p:cNvSpPr>
          <p:nvPr/>
        </p:nvSpPr>
        <p:spPr>
          <a:xfrm xmlns:a="http://schemas.openxmlformats.org/drawingml/2006/main">
            <a:off x="685800" y="16478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Five configurable alert rules</a:t>
            </a:r>
          </a:p>
        </p:txBody>
      </p:sp>
      <p:sp>
        <p:nvSpPr>
          <p:cNvPr id="4" name="alerts-body">
            <a:extLst xmlns:a="http://schemas.openxmlformats.org/drawingml/2006/main">
              <a:ext uri="{FF2B5EF4-FFF2-40B4-BE49-F238E27FC236}">
                <a16:creationId xmlns:a16="http://schemas.microsoft.com/office/drawing/2014/main" id="{6A5A0065-D95B-4634-861F-BD162E1D13E8}"/>
              </a:ext>
            </a:extLst>
          </p:cNvPr>
          <p:cNvSpPr>
            <a:spLocks xmlns:a="http://schemas.openxmlformats.org/drawingml/2006/main" noGrp="1"/>
          </p:cNvSpPr>
          <p:nvPr/>
        </p:nvSpPr>
        <p:spPr>
          <a:xfrm xmlns:a="http://schemas.openxmlformats.org/drawingml/2006/main">
            <a:off x="685800" y="211455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Sales decline, expense increase, low estimated margin, negative feedback and forecast decline.</a:t>
            </a:r>
          </a:p>
        </p:txBody>
      </p:sp>
      <p:sp>
        <p:nvSpPr>
          <p:cNvPr id="5" name="reports-heading">
            <a:extLst xmlns:a="http://schemas.openxmlformats.org/drawingml/2006/main">
              <a:ext uri="{FF2B5EF4-FFF2-40B4-BE49-F238E27FC236}">
                <a16:creationId xmlns:a16="http://schemas.microsoft.com/office/drawing/2014/main" id="{A34CF0E9-8909-4148-8F8D-6E0B47749172}"/>
              </a:ext>
            </a:extLst>
          </p:cNvPr>
          <p:cNvSpPr>
            <a:spLocks xmlns:a="http://schemas.openxmlformats.org/drawingml/2006/main" noGrp="1"/>
          </p:cNvSpPr>
          <p:nvPr/>
        </p:nvSpPr>
        <p:spPr>
          <a:xfrm xmlns:a="http://schemas.openxmlformats.org/drawingml/2006/main">
            <a:off x="6534150" y="1647825"/>
            <a:ext cx="4972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Saved report snapshots</a:t>
            </a:r>
          </a:p>
        </p:txBody>
      </p:sp>
      <p:sp>
        <p:nvSpPr>
          <p:cNvPr id="6" name="reports-body">
            <a:extLst xmlns:a="http://schemas.openxmlformats.org/drawingml/2006/main">
              <a:ext uri="{FF2B5EF4-FFF2-40B4-BE49-F238E27FC236}">
                <a16:creationId xmlns:a16="http://schemas.microsoft.com/office/drawing/2014/main" id="{9777C943-003F-44B9-B6C9-2F7BFB1981B6}"/>
              </a:ext>
            </a:extLst>
          </p:cNvPr>
          <p:cNvSpPr>
            <a:spLocks xmlns:a="http://schemas.openxmlformats.org/drawingml/2006/main" noGrp="1"/>
          </p:cNvSpPr>
          <p:nvPr/>
        </p:nvSpPr>
        <p:spPr>
          <a:xfrm xmlns:a="http://schemas.openxmlformats.org/drawingml/2006/main">
            <a:off x="6534150" y="2114550"/>
            <a:ext cx="4972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Weekly, monthly or custom reports preserve calculated figures and support PDF download.</a:t>
            </a:r>
          </a:p>
        </p:txBody>
      </p:sp>
      <p:sp>
        <p:nvSpPr>
          <p:cNvPr id="7" name="alerts-explanation">
            <a:extLst xmlns:a="http://schemas.openxmlformats.org/drawingml/2006/main">
              <a:ext uri="{FF2B5EF4-FFF2-40B4-BE49-F238E27FC236}">
                <a16:creationId xmlns:a16="http://schemas.microsoft.com/office/drawing/2014/main" id="{E1A3BD86-098D-4D07-8395-01F1CB67F477}"/>
              </a:ext>
            </a:extLst>
          </p:cNvPr>
          <p:cNvSpPr>
            <a:spLocks xmlns:a="http://schemas.openxmlformats.org/drawingml/2006/main" noGrp="1"/>
          </p:cNvSpPr>
          <p:nvPr/>
        </p:nvSpPr>
        <p:spPr>
          <a:xfrm xmlns:a="http://schemas.openxmlformats.org/drawingml/2006/main">
            <a:off x="685800" y="35242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575"/>
                </a:solidFill>
                <a:latin typeface="Arial"/>
                <a:ea typeface="Arial"/>
                <a:cs typeface="Arial"/>
              </a:defRPr>
            </a:defPPr>
          </a:lstStyle>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Rules check data coverage before triggering and retain the supporting evidence.</a:t>
            </a:r>
          </a:p>
        </p:txBody>
      </p:sp>
      <p:sp>
        <p:nvSpPr>
          <p:cNvPr id="8" name="reports-explanation">
            <a:extLst xmlns:a="http://schemas.openxmlformats.org/drawingml/2006/main">
              <a:ext uri="{FF2B5EF4-FFF2-40B4-BE49-F238E27FC236}">
                <a16:creationId xmlns:a16="http://schemas.microsoft.com/office/drawing/2014/main" id="{5DCC6575-D24A-417B-8DAF-26A75CF1E461}"/>
              </a:ext>
            </a:extLst>
          </p:cNvPr>
          <p:cNvSpPr>
            <a:spLocks xmlns:a="http://schemas.openxmlformats.org/drawingml/2006/main" noGrp="1"/>
          </p:cNvSpPr>
          <p:nvPr/>
        </p:nvSpPr>
        <p:spPr>
          <a:xfrm xmlns:a="http://schemas.openxmlformats.org/drawingml/2006/main">
            <a:off x="6534150" y="3524250"/>
            <a:ext cx="4972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575"/>
                </a:solidFill>
                <a:latin typeface="Arial"/>
                <a:ea typeface="Arial"/>
                <a:cs typeface="Arial"/>
              </a:defRPr>
            </a:defPPr>
          </a:lstStyle>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Reports work without AI. Owners can request an optional executive summary.</a:t>
            </a:r>
          </a:p>
        </p:txBody>
      </p:sp>
      <p:pic>
        <p:nvPicPr>
          <p:cNvPr id="9" name="">
            <a:extLst xmlns:a="http://schemas.openxmlformats.org/drawingml/2006/main">
              <a:ext uri="{FF2B5EF4-FFF2-40B4-BE49-F238E27FC236}">
                <a16:creationId xmlns:a16="http://schemas.microsoft.com/office/drawing/2014/main" id="{4E2FF173-4717-4317-BAB5-5068C9F5B0D5}"/>
              </a:ext>
            </a:extLst>
          </p:cNvPr>
          <p:cNvPicPr>
            <a:picLocks xmlns:a="http://schemas.openxmlformats.org/drawingml/2006/main" noChangeAspect="1"/>
          </p:cNvPicPr>
          <p:nvPr/>
        </p:nvPicPr>
        <p:blipFill>
          <a:blip xmlns:r="http://schemas.openxmlformats.org/officeDocument/2006/relationships" xmlns:a="http://schemas.openxmlformats.org/drawingml/2006/main" r:embed="Rd39fa14b37e345e4"/>
          <a:srcRect xmlns:a="http://schemas.openxmlformats.org/drawingml/2006/main" l="0" t="0" r="0" b="57500"/>
          <a:stretch xmlns:a="http://schemas.openxmlformats.org/drawingml/2006/main"/>
        </p:blipFill>
        <p:spPr>
          <a:xfrm xmlns:a="http://schemas.openxmlformats.org/drawingml/2006/main">
            <a:off x="685800" y="4933950"/>
            <a:ext cx="10820400" cy="1019175"/>
          </a:xfrm>
          <a:prstGeom xmlns:a="http://schemas.openxmlformats.org/drawingml/2006/main" prst="rect">
            <a:avLst/>
          </a:prstGeom>
        </p:spPr>
      </p:pic>
      <p:sp>
        <p:nvSpPr>
          <p:cNvPr id="10" name="delivery-limit">
            <a:extLst xmlns:a="http://schemas.openxmlformats.org/drawingml/2006/main">
              <a:ext uri="{FF2B5EF4-FFF2-40B4-BE49-F238E27FC236}">
                <a16:creationId xmlns:a16="http://schemas.microsoft.com/office/drawing/2014/main" id="{CB31C9FB-77EF-4662-BEC6-643FEBAF6ECF}"/>
              </a:ext>
            </a:extLst>
          </p:cNvPr>
          <p:cNvSpPr>
            <a:spLocks xmlns:a="http://schemas.openxmlformats.org/drawingml/2006/main" noGrp="1"/>
          </p:cNvSpPr>
          <p:nvPr/>
        </p:nvSpPr>
        <p:spPr>
          <a:xfrm xmlns:a="http://schemas.openxmlformats.org/drawingml/2006/main">
            <a:off x="685800" y="61150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575"/>
                </a:solidFill>
                <a:latin typeface="Arial"/>
                <a:ea typeface="Arial"/>
                <a:cs typeface="Arial"/>
              </a:defRPr>
            </a:defPPr>
          </a:lstStyle>
          <a:p xmlns:a="http://schemas.openxmlformats.org/drawingml/2006/main">
            <a:pPr algn="l">
              <a:defRPr sz="1575" b="0">
                <a:solidFill>
                  <a:srgbClr val="526575"/>
                </a:solidFill>
                <a:latin typeface="Arial"/>
                <a:ea typeface="Arial"/>
                <a:cs typeface="Arial"/>
              </a:defRPr>
            </a:pPr>
            <a:r>
              <a:rPr sz="1575" b="0">
                <a:solidFill>
                  <a:srgbClr val="526575"/>
                </a:solidFill>
                <a:latin typeface="Arial"/>
                <a:ea typeface="Arial"/>
                <a:cs typeface="Arial"/>
              </a:rPr>
              <a:t>Reports run on demand. Scheduled email delivery is outside the implementation.</a:t>
            </a:r>
          </a:p>
        </p:txBody>
      </p:sp>
    </p:spTree>
    <p:extLst>
      <p:ext uri="{BB962C8B-B14F-4D97-AF65-F5344CB8AC3E}">
        <p14:creationId xmlns:p14="http://schemas.microsoft.com/office/powerpoint/2010/main" val="1044317082"/>
      </p:ext>
    </p:extLst>
  </p:cSld>
</p:sld>
</file>

<file path=ppt/slides/slide9.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EDB78E21-4274-42BC-AF81-B96DEA5995A9}"/>
              </a:ext>
            </a:extLst>
          </p:cNvPr>
          <p:cNvSpPr>
            <a:spLocks xmlns:a="http://schemas.openxmlformats.org/drawingml/2006/main" noGrp="1"/>
          </p:cNvSpPr>
          <p:nvPr/>
        </p:nvSpPr>
        <p:spPr>
          <a:xfrm xmlns:a="http://schemas.openxmlformats.org/drawingml/2006/main">
            <a:off x="685800" y="4953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2D3B"/>
                </a:solidFill>
                <a:latin typeface="Arial"/>
                <a:ea typeface="Arial"/>
                <a:cs typeface="Arial"/>
              </a:defRPr>
            </a:defPPr>
          </a:lstStyle>
          <a:p xmlns:a="http://schemas.openxmlformats.org/drawingml/2006/main">
            <a:pPr algn="l">
              <a:defRPr sz="3300" b="1">
                <a:solidFill>
                  <a:srgbClr val="142D3B"/>
                </a:solidFill>
                <a:latin typeface="Arial"/>
                <a:ea typeface="Arial"/>
                <a:cs typeface="Arial"/>
              </a:defRPr>
            </a:pPr>
            <a:r>
              <a:rPr sz="3300" b="1">
                <a:solidFill>
                  <a:srgbClr val="142D3B"/>
                </a:solidFill>
                <a:latin typeface="Arial"/>
                <a:ea typeface="Arial"/>
                <a:cs typeface="Arial"/>
              </a:rPr>
              <a:t>Security and deployment status</a:t>
            </a:r>
          </a:p>
        </p:txBody>
      </p:sp>
      <p:sp>
        <p:nvSpPr>
          <p:cNvPr id="2" name="slide-number">
            <a:extLst xmlns:a="http://schemas.openxmlformats.org/drawingml/2006/main">
              <a:ext uri="{FF2B5EF4-FFF2-40B4-BE49-F238E27FC236}">
                <a16:creationId xmlns:a16="http://schemas.microsoft.com/office/drawing/2014/main" id="{E8A7A0A5-F5D7-4B19-853F-D860EACB58A3}"/>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526575"/>
                </a:solidFill>
                <a:latin typeface="Arial"/>
                <a:ea typeface="Arial"/>
                <a:cs typeface="Arial"/>
              </a:defRPr>
            </a:defPPr>
          </a:lstStyle>
          <a:p xmlns:a="http://schemas.openxmlformats.org/drawingml/2006/main">
            <a:pPr algn="r">
              <a:defRPr sz="1500" b="0">
                <a:solidFill>
                  <a:srgbClr val="526575"/>
                </a:solidFill>
                <a:latin typeface="Arial"/>
                <a:ea typeface="Arial"/>
                <a:cs typeface="Arial"/>
              </a:defRPr>
            </a:pPr>
            <a:r>
              <a:rPr sz="1500" b="0">
                <a:solidFill>
                  <a:srgbClr val="526575"/>
                </a:solidFill>
                <a:latin typeface="Arial"/>
                <a:ea typeface="Arial"/>
                <a:cs typeface="Arial"/>
              </a:rPr>
              <a:t>09</a:t>
            </a:r>
          </a:p>
        </p:txBody>
      </p:sp>
      <p:sp>
        <p:nvSpPr>
          <p:cNvPr id="3" name="security-heading">
            <a:extLst xmlns:a="http://schemas.openxmlformats.org/drawingml/2006/main">
              <a:ext uri="{FF2B5EF4-FFF2-40B4-BE49-F238E27FC236}">
                <a16:creationId xmlns:a16="http://schemas.microsoft.com/office/drawing/2014/main" id="{EAC743D6-7379-421C-8AFF-2A824296591D}"/>
              </a:ext>
            </a:extLst>
          </p:cNvPr>
          <p:cNvSpPr>
            <a:spLocks xmlns:a="http://schemas.openxmlformats.org/drawingml/2006/main" noGrp="1"/>
          </p:cNvSpPr>
          <p:nvPr/>
        </p:nvSpPr>
        <p:spPr>
          <a:xfrm xmlns:a="http://schemas.openxmlformats.org/drawingml/2006/main">
            <a:off x="685800" y="15906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Access protection</a:t>
            </a:r>
          </a:p>
        </p:txBody>
      </p:sp>
      <p:sp>
        <p:nvSpPr>
          <p:cNvPr id="4" name="security-body">
            <a:extLst xmlns:a="http://schemas.openxmlformats.org/drawingml/2006/main">
              <a:ext uri="{FF2B5EF4-FFF2-40B4-BE49-F238E27FC236}">
                <a16:creationId xmlns:a16="http://schemas.microsoft.com/office/drawing/2014/main" id="{AC5208A7-6558-43AC-85B9-0016660C307E}"/>
              </a:ext>
            </a:extLst>
          </p:cNvPr>
          <p:cNvSpPr>
            <a:spLocks xmlns:a="http://schemas.openxmlformats.org/drawingml/2006/main" noGrp="1"/>
          </p:cNvSpPr>
          <p:nvPr/>
        </p:nvSpPr>
        <p:spPr>
          <a:xfrm xmlns:a="http://schemas.openxmlformats.org/drawingml/2006/main">
            <a:off x="685800" y="20574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Server-side authentication and ownership checks protect every business operation.</a:t>
            </a:r>
          </a:p>
        </p:txBody>
      </p:sp>
      <p:sp>
        <p:nvSpPr>
          <p:cNvPr id="5" name="integrity-heading">
            <a:extLst xmlns:a="http://schemas.openxmlformats.org/drawingml/2006/main">
              <a:ext uri="{FF2B5EF4-FFF2-40B4-BE49-F238E27FC236}">
                <a16:creationId xmlns:a16="http://schemas.microsoft.com/office/drawing/2014/main" id="{3F6A1B45-7707-4E3E-965F-B1567CE2903B}"/>
              </a:ext>
            </a:extLst>
          </p:cNvPr>
          <p:cNvSpPr>
            <a:spLocks xmlns:a="http://schemas.openxmlformats.org/drawingml/2006/main" noGrp="1"/>
          </p:cNvSpPr>
          <p:nvPr/>
        </p:nvSpPr>
        <p:spPr>
          <a:xfrm xmlns:a="http://schemas.openxmlformats.org/drawingml/2006/main">
            <a:off x="685800" y="31146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Data integrity</a:t>
            </a:r>
          </a:p>
        </p:txBody>
      </p:sp>
      <p:sp>
        <p:nvSpPr>
          <p:cNvPr id="6" name="integrity-body">
            <a:extLst xmlns:a="http://schemas.openxmlformats.org/drawingml/2006/main">
              <a:ext uri="{FF2B5EF4-FFF2-40B4-BE49-F238E27FC236}">
                <a16:creationId xmlns:a16="http://schemas.microsoft.com/office/drawing/2014/main" id="{970ADEEC-C69B-4408-B3A9-6AA680D77247}"/>
              </a:ext>
            </a:extLst>
          </p:cNvPr>
          <p:cNvSpPr>
            <a:spLocks xmlns:a="http://schemas.openxmlformats.org/drawingml/2006/main" noGrp="1"/>
          </p:cNvSpPr>
          <p:nvPr/>
        </p:nvSpPr>
        <p:spPr>
          <a:xfrm xmlns:a="http://schemas.openxmlformats.org/drawingml/2006/main">
            <a:off x="685800" y="35814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Zod validation, database constraints, transactions and record versions reject invalid or stale changes.</a:t>
            </a:r>
          </a:p>
        </p:txBody>
      </p:sp>
      <p:sp>
        <p:nvSpPr>
          <p:cNvPr id="7" name="deployment-heading">
            <a:extLst xmlns:a="http://schemas.openxmlformats.org/drawingml/2006/main">
              <a:ext uri="{FF2B5EF4-FFF2-40B4-BE49-F238E27FC236}">
                <a16:creationId xmlns:a16="http://schemas.microsoft.com/office/drawing/2014/main" id="{F0800701-B011-4045-B4F4-89C5B3040C91}"/>
              </a:ext>
            </a:extLst>
          </p:cNvPr>
          <p:cNvSpPr>
            <a:spLocks xmlns:a="http://schemas.openxmlformats.org/drawingml/2006/main" noGrp="1"/>
          </p:cNvSpPr>
          <p:nvPr/>
        </p:nvSpPr>
        <p:spPr>
          <a:xfrm xmlns:a="http://schemas.openxmlformats.org/drawingml/2006/main">
            <a:off x="685800" y="46386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Local prototype</a:t>
            </a:r>
          </a:p>
        </p:txBody>
      </p:sp>
      <p:sp>
        <p:nvSpPr>
          <p:cNvPr id="8" name="deployment-body">
            <a:extLst xmlns:a="http://schemas.openxmlformats.org/drawingml/2006/main">
              <a:ext uri="{FF2B5EF4-FFF2-40B4-BE49-F238E27FC236}">
                <a16:creationId xmlns:a16="http://schemas.microsoft.com/office/drawing/2014/main" id="{EB6F715E-E8CF-45BA-BAD5-C553087AE184}"/>
              </a:ext>
            </a:extLst>
          </p:cNvPr>
          <p:cNvSpPr>
            <a:spLocks xmlns:a="http://schemas.openxmlformats.org/drawingml/2006/main" noGrp="1"/>
          </p:cNvSpPr>
          <p:nvPr/>
        </p:nvSpPr>
        <p:spPr>
          <a:xfrm xmlns:a="http://schemas.openxmlformats.org/drawingml/2006/main">
            <a:off x="685800" y="51054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3B"/>
                </a:solidFill>
                <a:latin typeface="Arial"/>
                <a:ea typeface="Arial"/>
                <a:cs typeface="Arial"/>
              </a:defRPr>
            </a:defPPr>
          </a:lstStyle>
          <a:p xmlns:a="http://schemas.openxmlformats.org/drawingml/2006/main">
            <a:pPr algn="l">
              <a:defRPr sz="1875" b="0">
                <a:solidFill>
                  <a:srgbClr val="142D3B"/>
                </a:solidFill>
                <a:latin typeface="Arial"/>
                <a:ea typeface="Arial"/>
                <a:cs typeface="Arial"/>
              </a:defRPr>
            </a:pPr>
            <a:r>
              <a:rPr sz="1875" b="0">
                <a:solidFill>
                  <a:srgbClr val="142D3B"/>
                </a:solidFill>
                <a:latin typeface="Arial"/>
                <a:ea typeface="Arial"/>
                <a:cs typeface="Arial"/>
              </a:rPr>
              <a:t>Separate development and test databases are configured. Hosting preparation is complete, but public deployment remains pending.</a:t>
            </a:r>
          </a:p>
        </p:txBody>
      </p:sp>
    </p:spTree>
    <p:extLst>
      <p:ext uri="{BB962C8B-B14F-4D97-AF65-F5344CB8AC3E}">
        <p14:creationId xmlns:p14="http://schemas.microsoft.com/office/powerpoint/2010/main" val="1219315654"/>
      </p:ext>
    </p:extLst>
  </p:cSld>
</p:sld>
</file>

<file path=ppt/slides/slide10.xml><?xml version="1.0" encoding="utf-8"?>
<p:sld xmlns:p="http://schemas.openxmlformats.org/presentationml/2006/main">
  <p:cSld>
    <p:bg>
      <p:bgPr>
        <a:solidFill xmlns:a="http://schemas.openxmlformats.org/drawingml/2006/main">
          <a:srgbClr val="142D3B"/>
        </a:solidFill>
      </p:bgPr>
    </p:bg>
    <p:spTree>
      <p:nvGrpSpPr>
        <p:cNvPr id="1" name=""/>
        <p:cNvGrpSpPr/>
        <p:nvPr/>
      </p:nvGrpSpPr>
      <p:grpSpPr>
        <a:xfrm xmlns:a="http://schemas.openxmlformats.org/drawingml/2006/main"/>
      </p:grpSpPr>
      <p:sp>
        <p:nvSpPr>
          <p:cNvPr id="5" name="thank-you">
            <a:extLst xmlns:a="http://schemas.openxmlformats.org/drawingml/2006/main">
              <a:ext uri="{FF2B5EF4-FFF2-40B4-BE49-F238E27FC236}">
                <a16:creationId xmlns:a16="http://schemas.microsoft.com/office/drawing/2014/main" id="{85A842CF-79BE-45CE-8833-F477D0C78D2F}"/>
              </a:ext>
            </a:extLst>
          </p:cNvPr>
          <p:cNvSpPr>
            <a:spLocks xmlns:a="http://schemas.openxmlformats.org/drawingml/2006/main" noGrp="1"/>
          </p:cNvSpPr>
          <p:nvPr/>
        </p:nvSpPr>
        <p:spPr>
          <a:xfrm xmlns:a="http://schemas.openxmlformats.org/drawingml/2006/main">
            <a:off x="685800" y="22479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6000" b="1">
                <a:solidFill>
                  <a:srgbClr val="FFFFFF"/>
                </a:solidFill>
                <a:latin typeface="Arial"/>
                <a:ea typeface="Arial"/>
                <a:cs typeface="Arial"/>
              </a:defRPr>
            </a:defPPr>
          </a:lstStyle>
          <a:p xmlns:a="http://schemas.openxmlformats.org/drawingml/2006/main">
            <a:pPr algn="ctr">
              <a:defRPr sz="6000" b="1">
                <a:solidFill>
                  <a:srgbClr val="FFFFFF"/>
                </a:solidFill>
                <a:latin typeface="Arial"/>
                <a:ea typeface="Arial"/>
                <a:cs typeface="Arial"/>
              </a:defRPr>
            </a:pPr>
            <a:r>
              <a:rPr sz="6000" b="1">
                <a:solidFill>
                  <a:srgbClr val="FFFFFF"/>
                </a:solidFill>
                <a:latin typeface="Arial"/>
                <a:ea typeface="Arial"/>
                <a:cs typeface="Arial"/>
              </a:rPr>
              <a:t>Thank you</a:t>
            </a:r>
          </a:p>
        </p:txBody>
      </p:sp>
      <p:sp>
        <p:nvSpPr>
          <p:cNvPr id="2" name="questions">
            <a:extLst xmlns:a="http://schemas.openxmlformats.org/drawingml/2006/main">
              <a:ext uri="{FF2B5EF4-FFF2-40B4-BE49-F238E27FC236}">
                <a16:creationId xmlns:a16="http://schemas.microsoft.com/office/drawing/2014/main" id="{58B15BC5-9697-4E04-A6DC-CDFA3F12C798}"/>
              </a:ext>
            </a:extLst>
          </p:cNvPr>
          <p:cNvSpPr>
            <a:spLocks xmlns:a="http://schemas.openxmlformats.org/drawingml/2006/main" noGrp="1"/>
          </p:cNvSpPr>
          <p:nvPr/>
        </p:nvSpPr>
        <p:spPr>
          <a:xfrm xmlns:a="http://schemas.openxmlformats.org/drawingml/2006/main">
            <a:off x="685800" y="3467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450" b="0">
                <a:solidFill>
                  <a:srgbClr val="61D4D5"/>
                </a:solidFill>
                <a:latin typeface="Arial"/>
                <a:ea typeface="Arial"/>
                <a:cs typeface="Arial"/>
              </a:defRPr>
            </a:defPPr>
          </a:lstStyle>
          <a:p xmlns:a="http://schemas.openxmlformats.org/drawingml/2006/main">
            <a:pPr algn="ctr">
              <a:defRPr sz="3450" b="0">
                <a:solidFill>
                  <a:srgbClr val="61D4D5"/>
                </a:solidFill>
                <a:latin typeface="Arial"/>
                <a:ea typeface="Arial"/>
                <a:cs typeface="Arial"/>
              </a:defRPr>
            </a:pPr>
            <a:r>
              <a:rPr sz="3450" b="0">
                <a:solidFill>
                  <a:srgbClr val="61D4D5"/>
                </a:solidFill>
                <a:latin typeface="Arial"/>
                <a:ea typeface="Arial"/>
                <a:cs typeface="Arial"/>
              </a:rPr>
              <a:t>Questions?</a:t>
            </a:r>
          </a:p>
        </p:txBody>
      </p:sp>
      <p:sp>
        <p:nvSpPr>
          <p:cNvPr id="3" name="closing-presenter">
            <a:extLst xmlns:a="http://schemas.openxmlformats.org/drawingml/2006/main">
              <a:ext uri="{FF2B5EF4-FFF2-40B4-BE49-F238E27FC236}">
                <a16:creationId xmlns:a16="http://schemas.microsoft.com/office/drawing/2014/main" id="{7136EACA-DA22-40D4-B703-1426348F70D5}"/>
              </a:ext>
            </a:extLst>
          </p:cNvPr>
          <p:cNvSpPr>
            <a:spLocks xmlns:a="http://schemas.openxmlformats.org/drawingml/2006/main" noGrp="1"/>
          </p:cNvSpPr>
          <p:nvPr/>
        </p:nvSpPr>
        <p:spPr>
          <a:xfrm xmlns:a="http://schemas.openxmlformats.org/drawingml/2006/main">
            <a:off x="685800" y="52673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D6E4E8"/>
                </a:solidFill>
                <a:latin typeface="Arial"/>
                <a:ea typeface="Arial"/>
                <a:cs typeface="Arial"/>
              </a:defRPr>
            </a:defPPr>
          </a:lstStyle>
          <a:p xmlns:a="http://schemas.openxmlformats.org/drawingml/2006/main">
            <a:pPr algn="ctr">
              <a:defRPr sz="1875" b="0">
                <a:solidFill>
                  <a:srgbClr val="D6E4E8"/>
                </a:solidFill>
                <a:latin typeface="Arial"/>
                <a:ea typeface="Arial"/>
                <a:cs typeface="Arial"/>
              </a:defRPr>
            </a:pPr>
            <a:r>
              <a:rPr sz="1875" b="0">
                <a:solidFill>
                  <a:srgbClr val="D6E4E8"/>
                </a:solidFill>
                <a:latin typeface="Arial"/>
                <a:ea typeface="Arial"/>
                <a:cs typeface="Arial"/>
              </a:rPr>
              <a:t>Khaled Waled Abdulakder</a:t>
            </a:r>
          </a:p>
        </p:txBody>
      </p:sp>
      <p:sp>
        <p:nvSpPr>
          <p:cNvPr id="4" name="slide-number">
            <a:extLst xmlns:a="http://schemas.openxmlformats.org/drawingml/2006/main">
              <a:ext uri="{FF2B5EF4-FFF2-40B4-BE49-F238E27FC236}">
                <a16:creationId xmlns:a16="http://schemas.microsoft.com/office/drawing/2014/main" id="{6053F9EC-B83D-4361-B669-39B25203E3FF}"/>
              </a:ext>
            </a:extLst>
          </p:cNvPr>
          <p:cNvSpPr>
            <a:spLocks xmlns:a="http://schemas.openxmlformats.org/drawingml/2006/main" noGrp="1"/>
          </p:cNvSpPr>
          <p:nvPr/>
        </p:nvSpPr>
        <p:spPr>
          <a:xfrm xmlns:a="http://schemas.openxmlformats.org/drawingml/2006/main">
            <a:off x="1112520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D6E4E8"/>
                </a:solidFill>
                <a:latin typeface="Arial"/>
                <a:ea typeface="Arial"/>
                <a:cs typeface="Arial"/>
              </a:defRPr>
            </a:defPPr>
          </a:lstStyle>
          <a:p xmlns:a="http://schemas.openxmlformats.org/drawingml/2006/main">
            <a:pPr algn="r">
              <a:defRPr sz="1500" b="0">
                <a:solidFill>
                  <a:srgbClr val="D6E4E8"/>
                </a:solidFill>
                <a:latin typeface="Arial"/>
                <a:ea typeface="Arial"/>
                <a:cs typeface="Arial"/>
              </a:defRPr>
            </a:pPr>
            <a:r>
              <a:rPr sz="1500" b="0">
                <a:solidFill>
                  <a:srgbClr val="D6E4E8"/>
                </a:solidFill>
                <a:latin typeface="Arial"/>
                <a:ea typeface="Arial"/>
                <a:cs typeface="Arial"/>
              </a:rPr>
              <a:t>10</a:t>
            </a:r>
          </a:p>
        </p:txBody>
      </p:sp>
    </p:spTree>
    <p:extLst>
      <p:ext uri="{BB962C8B-B14F-4D97-AF65-F5344CB8AC3E}">
        <p14:creationId xmlns:p14="http://schemas.microsoft.com/office/powerpoint/2010/main" val="1131883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2026-10-16T14:14:13.2540000Z</dcterms:created>
  <dcterms:modified xsi:type="dcterms:W3CDTF">2026-10-16T14:14:13.2540000Z</dcterms:modified>
</coreProperties>
</file>